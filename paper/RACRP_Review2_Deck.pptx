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63" r:id="rId3"/>
    <p:sldId id="264" r:id="rId9"/>
    <p:sldId id="265" r:id="rId10"/>
    <p:sldId id="266" r:id="rId11"/>
    <p:sldId id="267" r:id="rId12"/>
    <p:sldId id="268" r:id="rId13"/>
    <p:sldId id="269" r:id="rId14"/>
    <p:sldId id="270" r:id="rId8"/>
    <p:sldId id="271" r:id="rId7"/>
    <p:sldId id="272" r:id="rId6"/>
    <p:sldId id="273" r:id="rId5"/>
    <p:sldId id="274" r:id="rId4"/>
    <p:sldId id="275" r:id="rId20"/>
    <p:sldId id="276" r:id="rId21"/>
    <p:sldId id="277" r:id="rId22"/>
    <p:sldId id="278" r:id="rId23"/>
    <p:sldId id="279" r:id="rId24"/>
  </p:sldIdLst>
  <p:sldSz cx="1219169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5" d="100"/>
          <a:sy n="45" d="100"/>
        </p:scale>
        <p:origin x="102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13.xml"/><Relationship Id="rId5" Type="http://schemas.openxmlformats.org/officeDocument/2006/relationships/slide" Target="slides/slide12.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22-08-2026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22-08-2026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22-08-2026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22-08-2026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22-08-2026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22-08-2026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22-08-2026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22-08-2026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22-08-2026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22-08-2026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22-08-2026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22-08-2026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rtlCol="0">
            <a:spAutoFit/>
          </a:bodyPr>
          <a:lstStyle/>
          <a:p>
            <a:pPr algn="ctr"/>
            <a:r>
              <a:rPr sz="1500" b="0">
                <a:solidFill>
                  <a:srgbClr val="595959"/>
                </a:solidFill>
                <a:latin typeface="Calibri"/>
              </a:rPr>
              <a:t>B.Tech - BCSE497J Project-I</a:t>
            </a:r>
          </a:p>
          <a:p>
            <a:pPr/>
            <a:r>
              <a:rPr sz="2300" b="1">
                <a:solidFill>
                  <a:srgbClr val="6B2D8E"/>
                </a:solidFill>
                <a:latin typeface="Calibri"/>
              </a:rPr>
              <a:t>Retrieval-Augmented Cold-Start Risk Prediction for Serverless Computing</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nSpc>
                <a:spcPct val="100000"/>
              </a:lnSpc>
              <a:spcBef>
                <a:spcPts val="200"/>
              </a:spcBef>
            </a:pPr>
            <a:r>
              <a:rPr sz="1400" b="1">
                <a:solidFill>
                  <a:srgbClr val="1A1A1A"/>
                </a:solidFill>
                <a:latin typeface="Calibri"/>
              </a:rPr>
              <a:t>Team members:</a:t>
            </a:r>
            <a:endParaRPr sz="1800" dirty="0">
              <a:latin typeface="Times New Roman"/>
              <a:cs typeface="Times New Roman"/>
            </a:endParaRPr>
          </a:p>
          <a:p>
            <a:r>
              <a:rPr sz="1400" b="0">
                <a:solidFill>
                  <a:srgbClr val="1A1A1A"/>
                </a:solidFill>
                <a:latin typeface="Calibri"/>
              </a:rPr>
              <a:t>Parth Goyal      (23BCE0411)</a:t>
            </a:r>
          </a:p>
          <a:p>
            <a:r>
              <a:rPr sz="1400" b="0">
                <a:solidFill>
                  <a:srgbClr val="1A1A1A"/>
                </a:solidFill>
                <a:latin typeface="Calibri"/>
              </a:rPr>
              <a:t>Saanvi Sharma      (23BDS0064)</a:t>
            </a:r>
          </a:p>
          <a:p>
            <a:r>
              <a:rPr sz="800" b="0">
                <a:solidFill>
                  <a:srgbClr val="1A1A1A"/>
                </a:solidFill>
                <a:latin typeface="Calibri"/>
              </a:rPr>
              <a:t/>
            </a:r>
          </a:p>
          <a:p>
            <a:r>
              <a:rPr sz="1400" b="0">
                <a:solidFill>
                  <a:srgbClr val="1A1A1A"/>
                </a:solidFill>
                <a:latin typeface="Calibri"/>
              </a:rPr>
              <a:t>Guide: Dr. Narayanan Prashanth</a:t>
            </a:r>
          </a:p>
          <a:p>
            <a:r>
              <a:rPr sz="1200" b="0">
                <a:solidFill>
                  <a:srgbClr val="1A1A1A"/>
                </a:solidFill>
                <a:latin typeface="Calibri"/>
              </a:rPr>
              <a:t>Team ID: 15785UG03</a:t>
            </a: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id="{8233367C-DAD6-6E34-D21A-A981C09442F2}"/>
              </a:ext>
            </a:extLst>
          </p:cNvPr>
          <p:cNvSpPr>
            <a:spLocks noGrp="1"/>
          </p:cNvSpPr>
          <p:nvPr>
            <p:ph idx="1"/>
          </p:nvPr>
        </p:nvSpPr>
        <p:spPr/>
        <p:txBody>
          <a:bodyPr/>
          <a:lstStyle/>
          <a:p>
            <a:r>
              <a:rPr sz="1500">
                <a:solidFill>
                  <a:srgbClr val="1A1A1A"/>
                </a:solidFill>
                <a:latin typeface="Calibri"/>
              </a:rPr>
              <a:t>Paste the guide's approval mail here before the review.</a:t>
            </a:r>
          </a:p>
          <a:p>
            <a:r>
              <a:rPr sz="1500">
                <a:solidFill>
                  <a:srgbClr val="595959"/>
                </a:solidFill>
                <a:latin typeface="Calibri"/>
              </a:rPr>
              <a:t>Approval is required for: title, aim and objectives, the methodology used, and the results reported in this deck.</a:t>
            </a:r>
          </a:p>
          <a:p>
            <a:r>
              <a:rPr sz="1500">
                <a:solidFill>
                  <a:srgbClr val="595959"/>
                </a:solidFill>
                <a:latin typeface="Calibri"/>
              </a:rPr>
              <a:t>Due 01-09-2026.</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a:lstStyle/>
          <a:p>
            <a:r>
              <a:rPr sz="1000">
                <a:solidFill>
                  <a:srgbClr val="595959"/>
                </a:solidFill>
                <a:latin typeface="Calibri"/>
              </a:rPr>
              <a:t>02-09-2026</a:t>
            </a:r>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a:lstStyle/>
          <a:p>
            <a:r>
              <a:rPr sz="1000">
                <a:solidFill>
                  <a:srgbClr val="595959"/>
                </a:solidFill>
                <a:latin typeface="Calibri"/>
              </a:rPr>
              <a:t>2</a:t>
            </a:r>
          </a:p>
        </p:txBody>
      </p:sp>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Aim</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3</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88"/>
              </a:spcAft>
            </a:pPr>
            <a:r>
              <a:rPr sz="1400">
                <a:solidFill>
                  <a:srgbClr val="1A1A1A"/>
                </a:solidFill>
                <a:latin typeface="Calibri"/>
              </a:rPr>
              <a:t>•  To design and evaluate RACRP - a memory-based approach to serverless keep-alive scheduling - which:</a:t>
            </a:r>
          </a:p>
          <a:p>
            <a:pPr lvl="1">
              <a:spcAft>
                <a:spcPts val="588"/>
              </a:spcAft>
            </a:pPr>
            <a:r>
              <a:rPr sz="1400">
                <a:solidFill>
                  <a:srgbClr val="1A1A1A"/>
                </a:solidFill>
                <a:latin typeface="Calibri"/>
              </a:rPr>
              <a:t>–  treats cold-start mitigation as estimation of an application's idle-gap distribution rather than as invocation-count forecasting, so that the warm window becomes a decision derived from that distribution instead of a number read off it;</a:t>
            </a:r>
          </a:p>
          <a:p>
            <a:pPr lvl="1">
              <a:spcAft>
                <a:spcPts val="588"/>
              </a:spcAft>
            </a:pPr>
            <a:r>
              <a:rPr sz="1400">
                <a:solidFill>
                  <a:srgbClr val="1A1A1A"/>
                </a:solidFill>
                <a:latin typeface="Calibri"/>
              </a:rPr>
              <a:t>–  measures, model-free, how much of that distribution is actually predictable from each context a scheduler can observe, and uses the measurement to choose the mechanism rather than assuming one;</a:t>
            </a:r>
          </a:p>
          <a:p>
            <a:pPr lvl="1">
              <a:spcAft>
                <a:spcPts val="588"/>
              </a:spcAft>
            </a:pPr>
            <a:r>
              <a:rPr sz="1400">
                <a:solidFill>
                  <a:srgbClr val="1A1A1A"/>
                </a:solidFill>
                <a:latin typeface="Calibri"/>
              </a:rPr>
              <a:t>–  derives the pre-warm offset and keep-alive length by minimising the expected cost of the warm window, replacing the platform's percentile heuristic with a knob an operator can actually price - the number of GB-minutes a cold start is worth;</a:t>
            </a:r>
          </a:p>
          <a:p>
            <a:pPr lvl="1">
              <a:spcAft>
                <a:spcPts val="588"/>
              </a:spcAft>
            </a:pPr>
            <a:r>
              <a:rPr sz="1400">
                <a:solidFill>
                  <a:srgbClr val="1A1A1A"/>
                </a:solidFill>
                <a:latin typeface="Calibri"/>
              </a:rPr>
              <a:t>–  conditions the estimate on the application's own recent state - an episodic memory of what followed similar states in its own past - with partial pooling so a thin conditional is never trusted before it is earned;</a:t>
            </a:r>
          </a:p>
          <a:p>
            <a:pPr lvl="1">
              <a:spcAft>
                <a:spcPts val="588"/>
              </a:spcAft>
            </a:pPr>
            <a:r>
              <a:rPr sz="1400">
                <a:solidFill>
                  <a:srgbClr val="1A1A1A"/>
                </a:solidFill>
                <a:latin typeface="Calibri"/>
              </a:rPr>
              <a:t>–  evaluates every arm at MATCHED memory cost against the policy actually deployed in Azure, and against a deliberately strengthened version of it that is allowed to tune both of its percentiles, since a policy that holds more containers warm always shows fewer cold starts.</a:t>
            </a:r>
          </a:p>
          <a:p>
            <a:pPr>
              <a:spcAft>
                <a:spcPts val="588"/>
              </a:spcAft>
            </a:pPr>
            <a:r>
              <a:rPr sz="1400">
                <a:solidFill>
                  <a:srgbClr val="1A1A1A"/>
                </a:solidFill>
                <a:latin typeface="Calibri"/>
              </a:rPr>
              <a:t>•  Success criterion: fewer cold starts per unit of memory-time on a real production trace, against the deployed policy rather than a straw 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Abstract</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4</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67"/>
              </a:spcAft>
            </a:pPr>
            <a:r>
              <a:rPr sz="1350">
                <a:solidFill>
                  <a:srgbClr val="1A1A1A"/>
                </a:solidFill>
                <a:latin typeface="Calibri"/>
              </a:rPr>
              <a:t>Serverless platforms scale to zero, so an idle application must be rebuilt before it can serve - the cold-start problem. The policy deployed in Azure Functions sets each application's warm window from two fixed percentiles of a histogram of its own idle times. We ask what that policy discards.</a:t>
            </a:r>
          </a:p>
          <a:p>
            <a:pPr>
              <a:spcAft>
                <a:spcPts val="567"/>
              </a:spcAft>
            </a:pPr>
            <a:r>
              <a:rPr sz="1350">
                <a:solidFill>
                  <a:srgbClr val="1A1A1A"/>
                </a:solidFill>
                <a:latin typeface="Calibri"/>
              </a:rPr>
              <a:t>First, the histogram is MARGINAL: it pools every gap the application has shown and forgets the state each occurred in. A model-free information audit finds roughly 89% of the next gap's entropy irreducible - why the richer retrieval schemes we built first all failed - but localises the rest in one variable: the gap that just closed. Conditioning on it, with partial pooling towards the marginal, recovers 26.3% at matched memory cost, and recovers the deployed policy exactly as its limiting case.</a:t>
            </a:r>
          </a:p>
          <a:p>
            <a:pPr>
              <a:spcAft>
                <a:spcPts val="567"/>
              </a:spcAft>
            </a:pPr>
            <a:r>
              <a:rPr sz="1350">
                <a:solidFill>
                  <a:srgbClr val="1A1A1A"/>
                </a:solidFill>
                <a:latin typeface="Calibri"/>
              </a:rPr>
              <a:t>Second, and larger, the WINDOW itself was never derived. A percentile is a heuristic, and not a quantity an operator can price. Minimising the window's expected cost instead - memory paid for the part of the gap it covers, against the risk of a cold start if the next invocation falls outside - replaces the percentile with K/m, the GB-minutes a cold start is worth. Optimising offset and length jointly cuts cold starts by 78.8% against the deployed policy, and 67.6% against a strengthened baseline allowed to tune both percentiles over 36 configurations. The same optimisation on another application's histogram removes the gain.</a:t>
            </a:r>
          </a:p>
          <a:p>
            <a:pPr>
              <a:spcAft>
                <a:spcPts val="567"/>
              </a:spcAft>
            </a:pPr>
            <a:r>
              <a:rPr sz="1350">
                <a:solidFill>
                  <a:srgbClr val="1A1A1A"/>
                </a:solidFill>
                <a:latin typeface="Calibri"/>
              </a:rPr>
              <a:t>Evaluated on the Azure Functions 2019 trace over held-out days, only at matched memory spend, with a control for each claimed mechanism. We report that the two ideas do not compose, the budget at which the gain fades, and the negative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Literature Review (1/2)  -  most recent first</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5</a:t>
            </a:r>
          </a:p>
        </p:txBody>
      </p:sp>
      <p:graphicFrame>
        <p:nvGraphicFramePr>
          <p:cNvPr id="6" name="Table 5"/>
          <p:cNvGraphicFramePr>
            <a:graphicFrameLocks noGrp="1"/>
          </p:cNvGraphicFramePr>
          <p:nvPr/>
        </p:nvGraphicFramePr>
        <p:xfrm>
          <a:off x="548640" y="1389888"/>
          <a:ext cx="11091670" cy="4754880"/>
        </p:xfrm>
        <a:graphic>
          <a:graphicData uri="http://schemas.openxmlformats.org/drawingml/2006/table">
            <a:tbl>
              <a:tblPr firstRow="1" bandRow="1">
                <a:tableStyleId>{5C22544A-7EE6-4342-B048-85BDC9FD1C3A}</a:tableStyleId>
              </a:tblPr>
              <a:tblGrid>
                <a:gridCol w="458333"/>
                <a:gridCol w="2200001"/>
                <a:gridCol w="4583335"/>
                <a:gridCol w="3850001"/>
              </a:tblGrid>
              <a:tr h="792480">
                <a:tc>
                  <a:txBody>
                    <a:bodyPr wrap="square"/>
                    <a:lstStyle/>
                    <a:p>
                      <a:r>
                        <a:rPr sz="950" b="1">
                          <a:solidFill>
                            <a:srgbClr val="6B2D8E"/>
                          </a:solidFill>
                          <a:latin typeface="Calibri"/>
                        </a:rPr>
                        <a:t>#</a:t>
                      </a:r>
                    </a:p>
                  </a:txBody>
                  <a:tcPr marL="54864" marR="54864" marT="27432" marB="27432">
                    <a:solidFill>
                      <a:srgbClr val="EFEAF4"/>
                    </a:solidFill>
                  </a:tcPr>
                </a:tc>
                <a:tc>
                  <a:txBody>
                    <a:bodyPr wrap="square"/>
                    <a:lstStyle/>
                    <a:p>
                      <a:r>
                        <a:rPr sz="950" b="1">
                          <a:solidFill>
                            <a:srgbClr val="6B2D8E"/>
                          </a:solidFill>
                          <a:latin typeface="Calibri"/>
                        </a:rPr>
                        <a:t>Work (venue, year)</a:t>
                      </a:r>
                    </a:p>
                  </a:txBody>
                  <a:tcPr marL="54864" marR="54864" marT="27432" marB="27432">
                    <a:solidFill>
                      <a:srgbClr val="EFEAF4"/>
                    </a:solidFill>
                  </a:tcPr>
                </a:tc>
                <a:tc>
                  <a:txBody>
                    <a:bodyPr wrap="square"/>
                    <a:lstStyle/>
                    <a:p>
                      <a:r>
                        <a:rPr sz="950" b="1">
                          <a:solidFill>
                            <a:srgbClr val="6B2D8E"/>
                          </a:solidFill>
                          <a:latin typeface="Calibri"/>
                        </a:rPr>
                        <a:t>Approach and key result</a:t>
                      </a:r>
                    </a:p>
                  </a:txBody>
                  <a:tcPr marL="54864" marR="54864" marT="27432" marB="27432">
                    <a:solidFill>
                      <a:srgbClr val="EFEAF4"/>
                    </a:solidFill>
                  </a:tcPr>
                </a:tc>
                <a:tc>
                  <a:txBody>
                    <a:bodyPr wrap="square"/>
                    <a:lstStyle/>
                    <a:p>
                      <a:r>
                        <a:rPr sz="950" b="1">
                          <a:solidFill>
                            <a:srgbClr val="6B2D8E"/>
                          </a:solidFill>
                          <a:latin typeface="Calibri"/>
                        </a:rPr>
                        <a:t>Limitation this project acts on</a:t>
                      </a:r>
                    </a:p>
                  </a:txBody>
                  <a:tcPr marL="54864" marR="54864" marT="27432" marB="27432">
                    <a:solidFill>
                      <a:srgbClr val="EFEAF4"/>
                    </a:solidFill>
                  </a:tcPr>
                </a:tc>
              </a:tr>
              <a:tr h="792480">
                <a:tc>
                  <a:txBody>
                    <a:bodyPr wrap="square"/>
                    <a:lstStyle/>
                    <a:p>
                      <a:r>
                        <a:rPr sz="900" b="0">
                          <a:solidFill>
                            <a:srgbClr val="1A1A1A"/>
                          </a:solidFill>
                          <a:latin typeface="Calibri"/>
                        </a:rPr>
                        <a:t>[1]</a:t>
                      </a:r>
                    </a:p>
                  </a:txBody>
                  <a:tcPr marL="54864" marR="54864" marT="27432" marB="27432">
                    <a:solidFill>
                      <a:srgbClr val="FFFFFF"/>
                    </a:solidFill>
                  </a:tcPr>
                </a:tc>
                <a:tc>
                  <a:txBody>
                    <a:bodyPr wrap="square"/>
                    <a:lstStyle/>
                    <a:p>
                      <a:r>
                        <a:rPr sz="900" b="0">
                          <a:solidFill>
                            <a:srgbClr val="1A1A1A"/>
                          </a:solidFill>
                          <a:latin typeface="Calibri"/>
                        </a:rPr>
                        <a:t>Joosen et al.,
EuroSys 2025</a:t>
                      </a:r>
                    </a:p>
                  </a:txBody>
                  <a:tcPr marL="54864" marR="54864" marT="27432" marB="27432">
                    <a:solidFill>
                      <a:srgbClr val="FFFFFF"/>
                    </a:solidFill>
                  </a:tcPr>
                </a:tc>
                <a:tc>
                  <a:txBody>
                    <a:bodyPr wrap="square"/>
                    <a:lstStyle/>
                    <a:p>
                      <a:r>
                        <a:rPr sz="900" b="0">
                          <a:solidFill>
                            <a:srgbClr val="1A1A1A"/>
                          </a:solidFill>
                          <a:latin typeface="Calibri"/>
                        </a:rPr>
                        <a:t>Month-long Huawei production trace: 85 billion requests and 11.9 million cold starts across five regions</a:t>
                      </a:r>
                    </a:p>
                  </a:txBody>
                  <a:tcPr marL="54864" marR="54864" marT="27432" marB="27432">
                    <a:solidFill>
                      <a:srgbClr val="FFFFFF"/>
                    </a:solidFill>
                  </a:tcPr>
                </a:tc>
                <a:tc>
                  <a:txBody>
                    <a:bodyPr wrap="square"/>
                    <a:lstStyle/>
                    <a:p>
                      <a:r>
                        <a:rPr sz="900" b="0">
                          <a:solidFill>
                            <a:srgbClr val="1A1A1A"/>
                          </a:solidFill>
                          <a:latin typeface="Calibri"/>
                        </a:rPr>
                        <a:t>Characterisation only; confirms cold starts persist at scale but provides no predictor</a:t>
                      </a:r>
                    </a:p>
                  </a:txBody>
                  <a:tcPr marL="54864" marR="54864" marT="27432" marB="27432">
                    <a:solidFill>
                      <a:srgbClr val="FFFFFF"/>
                    </a:solidFill>
                  </a:tcPr>
                </a:tc>
              </a:tr>
              <a:tr h="792480">
                <a:tc>
                  <a:txBody>
                    <a:bodyPr wrap="square"/>
                    <a:lstStyle/>
                    <a:p>
                      <a:r>
                        <a:rPr sz="900" b="0">
                          <a:solidFill>
                            <a:srgbClr val="1A1A1A"/>
                          </a:solidFill>
                          <a:latin typeface="Calibri"/>
                        </a:rPr>
                        <a:t>[2]</a:t>
                      </a:r>
                    </a:p>
                  </a:txBody>
                  <a:tcPr marL="54864" marR="54864" marT="27432" marB="27432">
                    <a:solidFill>
                      <a:srgbClr val="FFFFFF"/>
                    </a:solidFill>
                  </a:tcPr>
                </a:tc>
                <a:tc>
                  <a:txBody>
                    <a:bodyPr wrap="square"/>
                    <a:lstStyle/>
                    <a:p>
                      <a:r>
                        <a:rPr sz="900" b="0">
                          <a:solidFill>
                            <a:srgbClr val="1A1A1A"/>
                          </a:solidFill>
                          <a:latin typeface="Calibri"/>
                        </a:rPr>
                        <a:t>Han et al.,
ICML 2025</a:t>
                      </a:r>
                    </a:p>
                  </a:txBody>
                  <a:tcPr marL="54864" marR="54864" marT="27432" marB="27432">
                    <a:solidFill>
                      <a:srgbClr val="FFFFFF"/>
                    </a:solidFill>
                  </a:tcPr>
                </a:tc>
                <a:tc>
                  <a:txBody>
                    <a:bodyPr wrap="square"/>
                    <a:lstStyle/>
                    <a:p>
                      <a:r>
                        <a:rPr sz="900" b="0">
                          <a:solidFill>
                            <a:srgbClr val="1A1A1A"/>
                          </a:solidFill>
                          <a:latin typeface="Calibri"/>
                        </a:rPr>
                        <a:t>RAFT: retrieval-augmented time-series forecasting conditioned on similar historical segments</a:t>
                      </a:r>
                    </a:p>
                  </a:txBody>
                  <a:tcPr marL="54864" marR="54864" marT="27432" marB="27432">
                    <a:solidFill>
                      <a:srgbClr val="FFFFFF"/>
                    </a:solidFill>
                  </a:tcPr>
                </a:tc>
                <a:tc>
                  <a:txBody>
                    <a:bodyPr wrap="square"/>
                    <a:lstStyle/>
                    <a:p>
                      <a:r>
                        <a:rPr sz="900" b="0">
                          <a:solidFill>
                            <a:srgbClr val="1A1A1A"/>
                          </a:solidFill>
                          <a:latin typeface="Calibri"/>
                        </a:rPr>
                        <a:t>Generic benchmarks; retrieval never coupled to serverless scheduling, and no measurement of whether the target series is predictable at all</a:t>
                      </a:r>
                    </a:p>
                  </a:txBody>
                  <a:tcPr marL="54864" marR="54864" marT="27432" marB="27432">
                    <a:solidFill>
                      <a:srgbClr val="FFFFFF"/>
                    </a:solidFill>
                  </a:tcPr>
                </a:tc>
              </a:tr>
              <a:tr h="792480">
                <a:tc>
                  <a:txBody>
                    <a:bodyPr wrap="square"/>
                    <a:lstStyle/>
                    <a:p>
                      <a:r>
                        <a:rPr sz="900" b="0">
                          <a:solidFill>
                            <a:srgbClr val="1A1A1A"/>
                          </a:solidFill>
                          <a:latin typeface="Calibri"/>
                        </a:rPr>
                        <a:t>[3]</a:t>
                      </a:r>
                    </a:p>
                  </a:txBody>
                  <a:tcPr marL="54864" marR="54864" marT="27432" marB="27432">
                    <a:solidFill>
                      <a:srgbClr val="FFFFFF"/>
                    </a:solidFill>
                  </a:tcPr>
                </a:tc>
                <a:tc>
                  <a:txBody>
                    <a:bodyPr wrap="square"/>
                    <a:lstStyle/>
                    <a:p>
                      <a:r>
                        <a:rPr sz="900" b="0">
                          <a:solidFill>
                            <a:srgbClr val="1A1A1A"/>
                          </a:solidFill>
                          <a:latin typeface="Calibri"/>
                        </a:rPr>
                        <a:t>Hu et al.,
Computing 2025</a:t>
                      </a:r>
                    </a:p>
                  </a:txBody>
                  <a:tcPr marL="54864" marR="54864" marT="27432" marB="27432">
                    <a:solidFill>
                      <a:srgbClr val="FFFFFF"/>
                    </a:solidFill>
                  </a:tcPr>
                </a:tc>
                <a:tc>
                  <a:txBody>
                    <a:bodyPr wrap="square"/>
                    <a:lstStyle/>
                    <a:p>
                      <a:r>
                        <a:rPr sz="900" b="0">
                          <a:solidFill>
                            <a:srgbClr val="1A1A1A"/>
                          </a:solidFill>
                          <a:latin typeface="Calibri"/>
                        </a:rPr>
                        <a:t>An RNN forecasts future invocations and a pre-warming scheduler adapts idle-container lifetimes; about 49.5% more invocations served</a:t>
                      </a:r>
                    </a:p>
                  </a:txBody>
                  <a:tcPr marL="54864" marR="54864" marT="27432" marB="27432">
                    <a:solidFill>
                      <a:srgbClr val="FFFFFF"/>
                    </a:solidFill>
                  </a:tcPr>
                </a:tc>
                <a:tc>
                  <a:txBody>
                    <a:bodyPr wrap="square"/>
                    <a:lstStyle/>
                    <a:p>
                      <a:r>
                        <a:rPr sz="900" b="0">
                          <a:solidFill>
                            <a:srgbClr val="1A1A1A"/>
                          </a:solidFill>
                          <a:latin typeface="Calibri"/>
                        </a:rPr>
                        <a:t>Predicts invocation counts rather than the gap distribution the decision is actually a percentile of</a:t>
                      </a:r>
                    </a:p>
                  </a:txBody>
                  <a:tcPr marL="54864" marR="54864" marT="27432" marB="27432">
                    <a:solidFill>
                      <a:srgbClr val="FFFFFF"/>
                    </a:solidFill>
                  </a:tcPr>
                </a:tc>
              </a:tr>
              <a:tr h="792480">
                <a:tc>
                  <a:txBody>
                    <a:bodyPr wrap="square"/>
                    <a:lstStyle/>
                    <a:p>
                      <a:r>
                        <a:rPr sz="900" b="0">
                          <a:solidFill>
                            <a:srgbClr val="1A1A1A"/>
                          </a:solidFill>
                          <a:latin typeface="Calibri"/>
                        </a:rPr>
                        <a:t>[4]</a:t>
                      </a:r>
                    </a:p>
                  </a:txBody>
                  <a:tcPr marL="54864" marR="54864" marT="27432" marB="27432">
                    <a:solidFill>
                      <a:srgbClr val="FFFFFF"/>
                    </a:solidFill>
                  </a:tcPr>
                </a:tc>
                <a:tc>
                  <a:txBody>
                    <a:bodyPr wrap="square"/>
                    <a:lstStyle/>
                    <a:p>
                      <a:r>
                        <a:rPr sz="900" b="0">
                          <a:solidFill>
                            <a:srgbClr val="1A1A1A"/>
                          </a:solidFill>
                          <a:latin typeface="Calibri"/>
                        </a:rPr>
                        <a:t>Nguyen et al.,
arXiv 2025</a:t>
                      </a:r>
                    </a:p>
                  </a:txBody>
                  <a:tcPr marL="54864" marR="54864" marT="27432" marB="27432">
                    <a:solidFill>
                      <a:srgbClr val="FFFFFF"/>
                    </a:solidFill>
                  </a:tcPr>
                </a:tc>
                <a:tc>
                  <a:txBody>
                    <a:bodyPr wrap="square"/>
                    <a:lstStyle/>
                    <a:p>
                      <a:r>
                        <a:rPr sz="900" b="0">
                          <a:solidFill>
                            <a:srgbClr val="1A1A1A"/>
                          </a:solidFill>
                          <a:latin typeface="Calibri"/>
                        </a:rPr>
                        <a:t>Model predictive control jointly optimises pre-warming and dispatch; up to 85% lower tail latency with 34% fewer resources</a:t>
                      </a:r>
                    </a:p>
                  </a:txBody>
                  <a:tcPr marL="54864" marR="54864" marT="27432" marB="27432">
                    <a:solidFill>
                      <a:srgbClr val="FFFFFF"/>
                    </a:solidFill>
                  </a:tcPr>
                </a:tc>
                <a:tc>
                  <a:txBody>
                    <a:bodyPr wrap="square"/>
                    <a:lstStyle/>
                    <a:p>
                      <a:r>
                        <a:rPr sz="900" b="0">
                          <a:solidFill>
                            <a:srgbClr val="1A1A1A"/>
                          </a:solidFill>
                          <a:latin typeface="Calibri"/>
                        </a:rPr>
                        <a:t>Hinges entirely on forecast accuracy; sensitive to hand-tuned horizons and cost weights</a:t>
                      </a:r>
                    </a:p>
                  </a:txBody>
                  <a:tcPr marL="54864" marR="54864" marT="27432" marB="27432">
                    <a:solidFill>
                      <a:srgbClr val="FFFFFF"/>
                    </a:solidFill>
                  </a:tcPr>
                </a:tc>
              </a:tr>
              <a:tr h="792480">
                <a:tc>
                  <a:txBody>
                    <a:bodyPr wrap="square"/>
                    <a:lstStyle/>
                    <a:p>
                      <a:r>
                        <a:rPr sz="900" b="0">
                          <a:solidFill>
                            <a:srgbClr val="1A1A1A"/>
                          </a:solidFill>
                          <a:latin typeface="Calibri"/>
                        </a:rPr>
                        <a:t>[5]</a:t>
                      </a:r>
                    </a:p>
                  </a:txBody>
                  <a:tcPr marL="54864" marR="54864" marT="27432" marB="27432">
                    <a:solidFill>
                      <a:srgbClr val="FFFFFF"/>
                    </a:solidFill>
                  </a:tcPr>
                </a:tc>
                <a:tc>
                  <a:txBody>
                    <a:bodyPr wrap="square"/>
                    <a:lstStyle/>
                    <a:p>
                      <a:r>
                        <a:rPr sz="900" b="0">
                          <a:solidFill>
                            <a:srgbClr val="1A1A1A"/>
                          </a:solidFill>
                          <a:latin typeface="Calibri"/>
                        </a:rPr>
                        <a:t>Golec et al.,
ACM CSUR 2024</a:t>
                      </a:r>
                    </a:p>
                  </a:txBody>
                  <a:tcPr marL="54864" marR="54864" marT="27432" marB="27432">
                    <a:solidFill>
                      <a:srgbClr val="FFFFFF"/>
                    </a:solidFill>
                  </a:tcPr>
                </a:tc>
                <a:tc>
                  <a:txBody>
                    <a:bodyPr wrap="square"/>
                    <a:lstStyle/>
                    <a:p>
                      <a:r>
                        <a:rPr sz="900" b="0">
                          <a:solidFill>
                            <a:srgbClr val="1A1A1A"/>
                          </a:solidFill>
                          <a:latin typeface="Calibri"/>
                        </a:rPr>
                        <a:t>Systematic review and taxonomy of cold-start research</a:t>
                      </a:r>
                    </a:p>
                  </a:txBody>
                  <a:tcPr marL="54864" marR="54864" marT="27432" marB="27432">
                    <a:solidFill>
                      <a:srgbClr val="FFFFFF"/>
                    </a:solidFill>
                  </a:tcPr>
                </a:tc>
                <a:tc>
                  <a:txBody>
                    <a:bodyPr wrap="square"/>
                    <a:lstStyle/>
                    <a:p>
                      <a:r>
                        <a:rPr sz="900" b="0">
                          <a:solidFill>
                            <a:srgbClr val="1A1A1A"/>
                          </a:solidFill>
                          <a:latin typeface="Calibri"/>
                        </a:rPr>
                        <a:t>Survey only; flags prediction under sparse workloads as open but does not quantify how much is predictable</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Literature Review (2/2)  -  most recent first</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6</a:t>
            </a:r>
          </a:p>
        </p:txBody>
      </p:sp>
      <p:graphicFrame>
        <p:nvGraphicFramePr>
          <p:cNvPr id="6" name="Table 5"/>
          <p:cNvGraphicFramePr>
            <a:graphicFrameLocks noGrp="1"/>
          </p:cNvGraphicFramePr>
          <p:nvPr/>
        </p:nvGraphicFramePr>
        <p:xfrm>
          <a:off x="548640" y="1389888"/>
          <a:ext cx="11091670" cy="4754880"/>
        </p:xfrm>
        <a:graphic>
          <a:graphicData uri="http://schemas.openxmlformats.org/drawingml/2006/table">
            <a:tbl>
              <a:tblPr firstRow="1" bandRow="1">
                <a:tableStyleId>{5C22544A-7EE6-4342-B048-85BDC9FD1C3A}</a:tableStyleId>
              </a:tblPr>
              <a:tblGrid>
                <a:gridCol w="458333"/>
                <a:gridCol w="2200001"/>
                <a:gridCol w="4583335"/>
                <a:gridCol w="3850001"/>
              </a:tblGrid>
              <a:tr h="792480">
                <a:tc>
                  <a:txBody>
                    <a:bodyPr wrap="square"/>
                    <a:lstStyle/>
                    <a:p>
                      <a:r>
                        <a:rPr sz="950" b="1">
                          <a:solidFill>
                            <a:srgbClr val="6B2D8E"/>
                          </a:solidFill>
                          <a:latin typeface="Calibri"/>
                        </a:rPr>
                        <a:t>#</a:t>
                      </a:r>
                    </a:p>
                  </a:txBody>
                  <a:tcPr marL="54864" marR="54864" marT="27432" marB="27432">
                    <a:solidFill>
                      <a:srgbClr val="EFEAF4"/>
                    </a:solidFill>
                  </a:tcPr>
                </a:tc>
                <a:tc>
                  <a:txBody>
                    <a:bodyPr wrap="square"/>
                    <a:lstStyle/>
                    <a:p>
                      <a:r>
                        <a:rPr sz="950" b="1">
                          <a:solidFill>
                            <a:srgbClr val="6B2D8E"/>
                          </a:solidFill>
                          <a:latin typeface="Calibri"/>
                        </a:rPr>
                        <a:t>Work (venue, year)</a:t>
                      </a:r>
                    </a:p>
                  </a:txBody>
                  <a:tcPr marL="54864" marR="54864" marT="27432" marB="27432">
                    <a:solidFill>
                      <a:srgbClr val="EFEAF4"/>
                    </a:solidFill>
                  </a:tcPr>
                </a:tc>
                <a:tc>
                  <a:txBody>
                    <a:bodyPr wrap="square"/>
                    <a:lstStyle/>
                    <a:p>
                      <a:r>
                        <a:rPr sz="950" b="1">
                          <a:solidFill>
                            <a:srgbClr val="6B2D8E"/>
                          </a:solidFill>
                          <a:latin typeface="Calibri"/>
                        </a:rPr>
                        <a:t>Approach and key result</a:t>
                      </a:r>
                    </a:p>
                  </a:txBody>
                  <a:tcPr marL="54864" marR="54864" marT="27432" marB="27432">
                    <a:solidFill>
                      <a:srgbClr val="EFEAF4"/>
                    </a:solidFill>
                  </a:tcPr>
                </a:tc>
                <a:tc>
                  <a:txBody>
                    <a:bodyPr wrap="square"/>
                    <a:lstStyle/>
                    <a:p>
                      <a:r>
                        <a:rPr sz="950" b="1">
                          <a:solidFill>
                            <a:srgbClr val="6B2D8E"/>
                          </a:solidFill>
                          <a:latin typeface="Calibri"/>
                        </a:rPr>
                        <a:t>Limitation this project acts on</a:t>
                      </a:r>
                    </a:p>
                  </a:txBody>
                  <a:tcPr marL="54864" marR="54864" marT="27432" marB="27432">
                    <a:solidFill>
                      <a:srgbClr val="EFEAF4"/>
                    </a:solidFill>
                  </a:tcPr>
                </a:tc>
              </a:tr>
              <a:tr h="792480">
                <a:tc>
                  <a:txBody>
                    <a:bodyPr wrap="square"/>
                    <a:lstStyle/>
                    <a:p>
                      <a:r>
                        <a:rPr sz="900" b="0">
                          <a:solidFill>
                            <a:srgbClr val="1A1A1A"/>
                          </a:solidFill>
                          <a:latin typeface="Calibri"/>
                        </a:rPr>
                        <a:t>[6]</a:t>
                      </a:r>
                    </a:p>
                  </a:txBody>
                  <a:tcPr marL="54864" marR="54864" marT="27432" marB="27432">
                    <a:solidFill>
                      <a:srgbClr val="FFFFFF"/>
                    </a:solidFill>
                  </a:tcPr>
                </a:tc>
                <a:tc>
                  <a:txBody>
                    <a:bodyPr wrap="square"/>
                    <a:lstStyle/>
                    <a:p>
                      <a:r>
                        <a:rPr sz="900" b="0">
                          <a:solidFill>
                            <a:srgbClr val="1A1A1A"/>
                          </a:solidFill>
                          <a:latin typeface="Calibri"/>
                        </a:rPr>
                        <a:t>Vahidinia et al.,
IEEE IoT J. 2023</a:t>
                      </a:r>
                    </a:p>
                  </a:txBody>
                  <a:tcPr marL="54864" marR="54864" marT="27432" marB="27432">
                    <a:solidFill>
                      <a:srgbClr val="FFFFFF"/>
                    </a:solidFill>
                  </a:tcPr>
                </a:tc>
                <a:tc>
                  <a:txBody>
                    <a:bodyPr wrap="square"/>
                    <a:lstStyle/>
                    <a:p>
                      <a:r>
                        <a:rPr sz="900" b="0">
                          <a:solidFill>
                            <a:srgbClr val="1A1A1A"/>
                          </a:solidFill>
                          <a:latin typeface="Calibri"/>
                        </a:rPr>
                        <a:t>Two-layer scheme: reinforcement learning sets keep-alive duration, an LSTM forecasts invocation times to size the pre-warmed pool</a:t>
                      </a:r>
                    </a:p>
                  </a:txBody>
                  <a:tcPr marL="54864" marR="54864" marT="27432" marB="27432">
                    <a:solidFill>
                      <a:srgbClr val="FFFFFF"/>
                    </a:solidFill>
                  </a:tcPr>
                </a:tc>
                <a:tc>
                  <a:txBody>
                    <a:bodyPr wrap="square"/>
                    <a:lstStyle/>
                    <a:p>
                      <a:r>
                        <a:rPr sz="900" b="0">
                          <a:solidFill>
                            <a:srgbClr val="1A1A1A"/>
                          </a:solidFill>
                          <a:latin typeface="Calibri"/>
                        </a:rPr>
                        <a:t>Learns only from recent observations; keeps containers warm even when no cold start would have occurred</a:t>
                      </a:r>
                    </a:p>
                  </a:txBody>
                  <a:tcPr marL="54864" marR="54864" marT="27432" marB="27432">
                    <a:solidFill>
                      <a:srgbClr val="FFFFFF"/>
                    </a:solidFill>
                  </a:tcPr>
                </a:tc>
              </a:tr>
              <a:tr h="792480">
                <a:tc>
                  <a:txBody>
                    <a:bodyPr wrap="square"/>
                    <a:lstStyle/>
                    <a:p>
                      <a:r>
                        <a:rPr sz="900" b="0">
                          <a:solidFill>
                            <a:srgbClr val="1A1A1A"/>
                          </a:solidFill>
                          <a:latin typeface="Calibri"/>
                        </a:rPr>
                        <a:t>[7]</a:t>
                      </a:r>
                    </a:p>
                  </a:txBody>
                  <a:tcPr marL="54864" marR="54864" marT="27432" marB="27432">
                    <a:solidFill>
                      <a:srgbClr val="FFFFFF"/>
                    </a:solidFill>
                  </a:tcPr>
                </a:tc>
                <a:tc>
                  <a:txBody>
                    <a:bodyPr wrap="square"/>
                    <a:lstStyle/>
                    <a:p>
                      <a:r>
                        <a:rPr sz="900" b="0">
                          <a:solidFill>
                            <a:srgbClr val="1A1A1A"/>
                          </a:solidFill>
                          <a:latin typeface="Calibri"/>
                        </a:rPr>
                        <a:t>Roy et al.,
ASPLOS 2022</a:t>
                      </a:r>
                    </a:p>
                  </a:txBody>
                  <a:tcPr marL="54864" marR="54864" marT="27432" marB="27432">
                    <a:solidFill>
                      <a:srgbClr val="FFFFFF"/>
                    </a:solidFill>
                  </a:tcPr>
                </a:tc>
                <a:tc>
                  <a:txBody>
                    <a:bodyPr wrap="square"/>
                    <a:lstStyle/>
                    <a:p>
                      <a:r>
                        <a:rPr sz="900" b="0">
                          <a:solidFill>
                            <a:srgbClr val="1A1A1A"/>
                          </a:solidFill>
                          <a:latin typeface="Calibri"/>
                        </a:rPr>
                        <a:t>IceBreaker predicts invocation patterns with a Fourier basis and warms functions across heterogeneous nodes; about 45% lower keep-alive cost</a:t>
                      </a:r>
                    </a:p>
                  </a:txBody>
                  <a:tcPr marL="54864" marR="54864" marT="27432" marB="27432">
                    <a:solidFill>
                      <a:srgbClr val="FFFFFF"/>
                    </a:solidFill>
                  </a:tcPr>
                </a:tc>
                <a:tc>
                  <a:txBody>
                    <a:bodyPr wrap="square"/>
                    <a:lstStyle/>
                    <a:p>
                      <a:r>
                        <a:rPr sz="900" b="0">
                          <a:solidFill>
                            <a:srgbClr val="1A1A1A"/>
                          </a:solidFill>
                          <a:latin typeface="Calibri"/>
                        </a:rPr>
                        <a:t>The Fourier basis presumes periodicity; our information audit finds time-of-day explains only 7.6% of gap entropy on this trace</a:t>
                      </a:r>
                    </a:p>
                  </a:txBody>
                  <a:tcPr marL="54864" marR="54864" marT="27432" marB="27432">
                    <a:solidFill>
                      <a:srgbClr val="FFFFFF"/>
                    </a:solidFill>
                  </a:tcPr>
                </a:tc>
              </a:tr>
              <a:tr h="792480">
                <a:tc>
                  <a:txBody>
                    <a:bodyPr wrap="square"/>
                    <a:lstStyle/>
                    <a:p>
                      <a:r>
                        <a:rPr sz="900" b="0">
                          <a:solidFill>
                            <a:srgbClr val="1A1A1A"/>
                          </a:solidFill>
                          <a:latin typeface="Calibri"/>
                        </a:rPr>
                        <a:t>[8]</a:t>
                      </a:r>
                    </a:p>
                  </a:txBody>
                  <a:tcPr marL="54864" marR="54864" marT="27432" marB="27432">
                    <a:solidFill>
                      <a:srgbClr val="FFFFFF"/>
                    </a:solidFill>
                  </a:tcPr>
                </a:tc>
                <a:tc>
                  <a:txBody>
                    <a:bodyPr wrap="square"/>
                    <a:lstStyle/>
                    <a:p>
                      <a:r>
                        <a:rPr sz="900" b="0">
                          <a:solidFill>
                            <a:srgbClr val="1A1A1A"/>
                          </a:solidFill>
                          <a:latin typeface="Calibri"/>
                        </a:rPr>
                        <a:t>Fuerst &amp; Sharma,
ASPLOS 2021</a:t>
                      </a:r>
                    </a:p>
                  </a:txBody>
                  <a:tcPr marL="54864" marR="54864" marT="27432" marB="27432">
                    <a:solidFill>
                      <a:srgbClr val="FFFFFF"/>
                    </a:solidFill>
                  </a:tcPr>
                </a:tc>
                <a:tc>
                  <a:txBody>
                    <a:bodyPr wrap="square"/>
                    <a:lstStyle/>
                    <a:p>
                      <a:r>
                        <a:rPr sz="900" b="0">
                          <a:solidFill>
                            <a:srgbClr val="1A1A1A"/>
                          </a:solidFill>
                          <a:latin typeface="Calibri"/>
                        </a:rPr>
                        <a:t>FaasCache recasts keep-alive as object caching with greedy-dual eviction; up to about 50% more warm starts under memory pressure</a:t>
                      </a:r>
                    </a:p>
                  </a:txBody>
                  <a:tcPr marL="54864" marR="54864" marT="27432" marB="27432">
                    <a:solidFill>
                      <a:srgbClr val="FFFFFF"/>
                    </a:solidFill>
                  </a:tcPr>
                </a:tc>
                <a:tc>
                  <a:txBody>
                    <a:bodyPr wrap="square"/>
                    <a:lstStyle/>
                    <a:p>
                      <a:r>
                        <a:rPr sz="900" b="0">
                          <a:solidFill>
                            <a:srgbClr val="1A1A1A"/>
                          </a:solidFill>
                          <a:latin typeface="Calibri"/>
                        </a:rPr>
                        <a:t>Fully reactive eviction with no forecasting, so it cannot anticipate a surge after a long idle gap</a:t>
                      </a:r>
                    </a:p>
                  </a:txBody>
                  <a:tcPr marL="54864" marR="54864" marT="27432" marB="27432">
                    <a:solidFill>
                      <a:srgbClr val="FFFFFF"/>
                    </a:solidFill>
                  </a:tcPr>
                </a:tc>
              </a:tr>
              <a:tr h="792480">
                <a:tc>
                  <a:txBody>
                    <a:bodyPr wrap="square"/>
                    <a:lstStyle/>
                    <a:p>
                      <a:r>
                        <a:rPr sz="900" b="0">
                          <a:solidFill>
                            <a:srgbClr val="1A1A1A"/>
                          </a:solidFill>
                          <a:latin typeface="Calibri"/>
                        </a:rPr>
                        <a:t>[9]</a:t>
                      </a:r>
                    </a:p>
                  </a:txBody>
                  <a:tcPr marL="54864" marR="54864" marT="27432" marB="27432">
                    <a:solidFill>
                      <a:srgbClr val="FFFFFF"/>
                    </a:solidFill>
                  </a:tcPr>
                </a:tc>
                <a:tc>
                  <a:txBody>
                    <a:bodyPr wrap="square"/>
                    <a:lstStyle/>
                    <a:p>
                      <a:r>
                        <a:rPr sz="900" b="0">
                          <a:solidFill>
                            <a:srgbClr val="1A1A1A"/>
                          </a:solidFill>
                          <a:latin typeface="Calibri"/>
                        </a:rPr>
                        <a:t>Shahrad et al.,
USENIX ATC 2020</a:t>
                      </a:r>
                    </a:p>
                  </a:txBody>
                  <a:tcPr marL="54864" marR="54864" marT="27432" marB="27432">
                    <a:solidFill>
                      <a:srgbClr val="FFFFFF"/>
                    </a:solidFill>
                  </a:tcPr>
                </a:tc>
                <a:tc>
                  <a:txBody>
                    <a:bodyPr wrap="square"/>
                    <a:lstStyle/>
                    <a:p>
                      <a:r>
                        <a:rPr sz="900" b="0">
                          <a:solidFill>
                            <a:srgbClr val="1A1A1A"/>
                          </a:solidFill>
                          <a:latin typeface="Calibri"/>
                        </a:rPr>
                        <a:t>Characterises the Azure Functions production workload; a hybrid histogram of inter-invocation idle times sets per-application pre-warm and keep-alive windows; deployed in Azure and the trace released publicly</a:t>
                      </a:r>
                    </a:p>
                  </a:txBody>
                  <a:tcPr marL="54864" marR="54864" marT="27432" marB="27432">
                    <a:solidFill>
                      <a:srgbClr val="FFFFFF"/>
                    </a:solidFill>
                  </a:tcPr>
                </a:tc>
                <a:tc>
                  <a:txBody>
                    <a:bodyPr wrap="square"/>
                    <a:lstStyle/>
                    <a:p>
                      <a:r>
                        <a:rPr sz="900" b="0">
                          <a:solidFill>
                            <a:srgbClr val="1A1A1A"/>
                          </a:solidFill>
                          <a:latin typeface="Calibri"/>
                        </a:rPr>
                        <a:t>The histogram is a MARGINAL distribution over an application's gaps - it discards the state each gap occurred in. This is the gap our method closes.</a:t>
                      </a:r>
                    </a:p>
                  </a:txBody>
                  <a:tcPr marL="54864" marR="54864" marT="27432" marB="27432">
                    <a:solidFill>
                      <a:srgbClr val="FFFFFF"/>
                    </a:solidFill>
                  </a:tcPr>
                </a:tc>
              </a:tr>
              <a:tr h="792480">
                <a:tc>
                  <a:txBody>
                    <a:bodyPr wrap="square"/>
                    <a:lstStyle/>
                    <a:p>
                      <a:r>
                        <a:rPr sz="900" b="0">
                          <a:solidFill>
                            <a:srgbClr val="1A1A1A"/>
                          </a:solidFill>
                          <a:latin typeface="Calibri"/>
                        </a:rPr>
                        <a:t>[10]</a:t>
                      </a:r>
                    </a:p>
                  </a:txBody>
                  <a:tcPr marL="54864" marR="54864" marT="27432" marB="27432">
                    <a:solidFill>
                      <a:srgbClr val="FFFFFF"/>
                    </a:solidFill>
                  </a:tcPr>
                </a:tc>
                <a:tc>
                  <a:txBody>
                    <a:bodyPr wrap="square"/>
                    <a:lstStyle/>
                    <a:p>
                      <a:r>
                        <a:rPr sz="900" b="0">
                          <a:solidFill>
                            <a:srgbClr val="1A1A1A"/>
                          </a:solidFill>
                          <a:latin typeface="Calibri"/>
                        </a:rPr>
                        <a:t>Xu et al.,
IEEE ICPADS 2019</a:t>
                      </a:r>
                    </a:p>
                  </a:txBody>
                  <a:tcPr marL="54864" marR="54864" marT="27432" marB="27432">
                    <a:solidFill>
                      <a:srgbClr val="FFFFFF"/>
                    </a:solidFill>
                  </a:tcPr>
                </a:tc>
                <a:tc>
                  <a:txBody>
                    <a:bodyPr wrap="square"/>
                    <a:lstStyle/>
                    <a:p>
                      <a:r>
                        <a:rPr sz="900" b="0">
                          <a:solidFill>
                            <a:srgbClr val="1A1A1A"/>
                          </a:solidFill>
                          <a:latin typeface="Calibri"/>
                        </a:rPr>
                        <a:t>Adaptive Warm-Up: an LSTM predicts each function's next invocation time so containers are warmed just before it</a:t>
                      </a:r>
                    </a:p>
                  </a:txBody>
                  <a:tcPr marL="54864" marR="54864" marT="27432" marB="27432">
                    <a:solidFill>
                      <a:srgbClr val="FFFFFF"/>
                    </a:solidFill>
                  </a:tcPr>
                </a:tc>
                <a:tc>
                  <a:txBody>
                    <a:bodyPr wrap="square"/>
                    <a:lstStyle/>
                    <a:p>
                      <a:r>
                        <a:rPr sz="900" b="0">
                          <a:solidFill>
                            <a:srgbClr val="1A1A1A"/>
                          </a:solidFill>
                          <a:latin typeface="Calibri"/>
                        </a:rPr>
                        <a:t>A point forecast of a time; no notion of the uncertainty a keep-alive window is a percentile of; per-function, with no use of state</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Research Gap</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7</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88"/>
              </a:spcAft>
            </a:pPr>
            <a:r>
              <a:rPr sz="1400">
                <a:solidFill>
                  <a:srgbClr val="1A1A1A"/>
                </a:solidFill>
                <a:latin typeface="Calibri"/>
              </a:rPr>
              <a:t>•  Every deployed and published method estimates one distribution per application from that application's pooled history. Histograms [9], LSTM/RNN forecasters [10][6][3], caching heuristics [8], Fourier [7] and MPC [4] all discard the state in which each observation occurred.</a:t>
            </a:r>
          </a:p>
          <a:p>
            <a:pPr>
              <a:spcAft>
                <a:spcPts val="588"/>
              </a:spcAft>
            </a:pPr>
            <a:r>
              <a:rPr sz="1400">
                <a:solidFill>
                  <a:srgbClr val="1A1A1A"/>
                </a:solidFill>
                <a:latin typeface="Calibri"/>
              </a:rPr>
              <a:t>•  That is a modelling error, not an estimation error: no amount of extra data fixes a marginal that is being asked to describe two regimes at once. An application's own history contains the answer, and the deployed policy throws it away.</a:t>
            </a:r>
          </a:p>
          <a:p>
            <a:pPr>
              <a:spcAft>
                <a:spcPts val="588"/>
              </a:spcAft>
            </a:pPr>
            <a:r>
              <a:rPr sz="1400">
                <a:solidFill>
                  <a:srgbClr val="1A1A1A"/>
                </a:solidFill>
                <a:latin typeface="Calibri"/>
              </a:rPr>
              <a:t>•  Retrieval-augmented prediction is proposed as the remedy [2], and the cold-start survey lists prediction under sparse workloads as open [5], but no published system applies retrieval to serverless scheduling - so the proposal has never been evaluated, and nobody has measured how much signal is there to retrieve in the first place.</a:t>
            </a:r>
          </a:p>
          <a:p>
            <a:pPr>
              <a:spcAft>
                <a:spcPts val="588"/>
              </a:spcAft>
            </a:pPr>
            <a:r>
              <a:rPr sz="1400">
                <a:solidFill>
                  <a:srgbClr val="1A1A1A"/>
                </a:solidFill>
                <a:latin typeface="Calibri"/>
              </a:rPr>
              <a:t>•  Second gap, and the larger one: the WINDOW itself has never been derived. Every method above, the deployed policy included, turns its estimated distribution into a warm window by taking a percentile of it. No published work argues for a particular percentile, and a percentile is not a quantity any platform operator can price. The decision is an optimal-stopping problem with an explicit cost, and treating it as one has not been tried.</a:t>
            </a:r>
          </a:p>
          <a:p>
            <a:pPr>
              <a:spcAft>
                <a:spcPts val="588"/>
              </a:spcAft>
            </a:pPr>
            <a:r>
              <a:rPr sz="1400">
                <a:solidFill>
                  <a:srgbClr val="1A1A1A"/>
                </a:solidFill>
                <a:latin typeface="Calibri"/>
              </a:rPr>
              <a:t>•  Gap addressed: we measure the predictable content of an application's idle gaps, we condition the deployed policy's own estimator on the state that measurement identifies, and we derive the warm window from the cost model instead of reading it off a quantile - using a system's own history to prepare it for its own future.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Objectives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8</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88"/>
              </a:spcAft>
            </a:pPr>
            <a:r>
              <a:rPr sz="1400">
                <a:solidFill>
                  <a:srgbClr val="1A1A1A"/>
                </a:solidFill>
                <a:latin typeface="Calibri"/>
              </a:rPr>
              <a:t>•  O1 - Apparatus. Build a minute-tick serverless simulator validated against an independent reference implementation, and a faithful reimplementation of the ATC'20 hybrid histogram, so that every later claim rests on a trustworthy instrument.</a:t>
            </a:r>
          </a:p>
          <a:p>
            <a:pPr>
              <a:spcAft>
                <a:spcPts val="588"/>
              </a:spcAft>
            </a:pPr>
            <a:r>
              <a:rPr sz="1400">
                <a:solidFill>
                  <a:srgbClr val="1A1A1A"/>
                </a:solidFill>
                <a:latin typeface="Calibri"/>
              </a:rPr>
              <a:t>•  O2 - Information audit. Measure, model-free, how much of the next idle gap's entropy each observable context explains, and use the result to select the conditioning variable rather than assuming one.</a:t>
            </a:r>
          </a:p>
          <a:p>
            <a:pPr>
              <a:spcAft>
                <a:spcPts val="588"/>
              </a:spcAft>
            </a:pPr>
            <a:r>
              <a:rPr sz="1400">
                <a:solidFill>
                  <a:srgbClr val="1A1A1A"/>
                </a:solidFill>
                <a:latin typeface="Calibri"/>
              </a:rPr>
              <a:t>•  O3 - Conditional estimator. Condition the idle-gap distribution on the selected state, partially pooled towards the marginal so thin cells are not over-trusted, with the deployed policy recovered exactly in the limit.</a:t>
            </a:r>
          </a:p>
          <a:p>
            <a:pPr>
              <a:spcAft>
                <a:spcPts val="588"/>
              </a:spcAft>
            </a:pPr>
            <a:r>
              <a:rPr sz="1400">
                <a:solidFill>
                  <a:srgbClr val="1A1A1A"/>
                </a:solidFill>
                <a:latin typeface="Calibri"/>
              </a:rPr>
              <a:t>•  O4 - Honest evaluation. Compare every arm at matched memory cost, with a random-key control, ablations over the conditioning variable, and stratified reporting; report what the controls say even when it contradicts the headline.</a:t>
            </a:r>
          </a:p>
          <a:p>
            <a:pPr>
              <a:spcAft>
                <a:spcPts val="588"/>
              </a:spcAft>
            </a:pPr>
            <a:r>
              <a:rPr sz="1400">
                <a:solidFill>
                  <a:srgbClr val="1A1A1A"/>
                </a:solidFill>
                <a:latin typeface="Calibri"/>
              </a:rPr>
              <a:t>•  O5 - Derived decision rule. Replace the percentile heuristic that both the deployed policy and our own conditional estimator relied on with the window that minimises expected cost, optimised jointly over pre-warm offset and keep-alive length, so the operator's knob becomes a price rather than a quantile.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Framework / Architecture / Block Diagram</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9</a:t>
            </a:r>
          </a:p>
        </p:txBody>
      </p:sp>
      <p:pic>
        <p:nvPicPr>
          <p:cNvPr id="6" name="Picture 5" descr="architecture.png"/>
          <p:cNvPicPr>
            <a:picLocks noChangeAspect="1"/>
          </p:cNvPicPr>
          <p:nvPr/>
        </p:nvPicPr>
        <p:blipFill>
          <a:blip r:embed="rId2"/>
          <a:stretch>
            <a:fillRect/>
          </a:stretch>
        </p:blipFill>
        <p:spPr>
          <a:xfrm>
            <a:off x="3056490" y="1325880"/>
            <a:ext cx="6048539" cy="3291840"/>
          </a:xfrm>
          <a:prstGeom prst="rect">
            <a:avLst/>
          </a:prstGeom>
        </p:spPr>
      </p:pic>
      <p:sp>
        <p:nvSpPr>
          <p:cNvPr id="7" name="TextBox 6"/>
          <p:cNvSpPr txBox="1"/>
          <p:nvPr/>
        </p:nvSpPr>
        <p:spPr>
          <a:xfrm>
            <a:off x="548640" y="4754880"/>
            <a:ext cx="11091672" cy="1508760"/>
          </a:xfrm>
          <a:prstGeom prst="rect">
            <a:avLst/>
          </a:prstGeom>
          <a:noFill/>
        </p:spPr>
        <p:txBody>
          <a:bodyPr wrap="square" lIns="0" rIns="0" tIns="0" bIns="0">
            <a:spAutoFit/>
          </a:bodyPr>
          <a:lstStyle/>
          <a:p>
            <a:pPr lvl="1">
              <a:spcAft>
                <a:spcPts val="378"/>
              </a:spcAft>
            </a:pPr>
            <a:r>
              <a:rPr sz="900">
                <a:solidFill>
                  <a:srgbClr val="1A1A1A"/>
                </a:solidFill>
                <a:latin typeface="Calibri"/>
              </a:rPr>
              <a:t>–  1. Trace ingestion - Azure Functions 2019, 14 days, aggregated from function level to application level, since Azure allocates per app.</a:t>
            </a:r>
          </a:p>
          <a:p>
            <a:pPr lvl="1">
              <a:spcAft>
                <a:spcPts val="378"/>
              </a:spcAft>
            </a:pPr>
            <a:r>
              <a:rPr sz="900">
                <a:solidFill>
                  <a:srgbClr val="1A1A1A"/>
                </a:solidFill>
                <a:latin typeface="Calibri"/>
              </a:rPr>
              <a:t>–  2. Information audit - mutual information between each observable context and the next idle gap. This SELECTS the mechanism; it is not a diagnostic run afterwards.</a:t>
            </a:r>
          </a:p>
          <a:p>
            <a:pPr lvl="1">
              <a:spcAft>
                <a:spcPts val="378"/>
              </a:spcAft>
            </a:pPr>
            <a:r>
              <a:rPr sz="900">
                <a:solidFill>
                  <a:srgbClr val="1A1A1A"/>
                </a:solidFill>
                <a:latin typeface="Calibri"/>
              </a:rPr>
              <a:t>–  3. Episodic memory - per application, one idle-gap histogram per bucket of the gap that just closed, updated online from gaps that have already CLOSED, so no decision ever consults the future.</a:t>
            </a:r>
          </a:p>
          <a:p>
            <a:pPr lvl="1">
              <a:spcAft>
                <a:spcPts val="378"/>
              </a:spcAft>
            </a:pPr>
            <a:r>
              <a:rPr sz="900">
                <a:solidFill>
                  <a:srgbClr val="1A1A1A"/>
                </a:solidFill>
                <a:latin typeface="Calibri"/>
              </a:rPr>
              <a:t>–  4. Partially-pooled estimate - the conditional is blended with the application's marginal in quantile space, weighted by how much evidence supports the cell.</a:t>
            </a:r>
          </a:p>
          <a:p>
            <a:pPr lvl="1">
              <a:spcAft>
                <a:spcPts val="378"/>
              </a:spcAft>
            </a:pPr>
            <a:r>
              <a:rPr sz="900">
                <a:solidFill>
                  <a:srgbClr val="1A1A1A"/>
                </a:solidFill>
                <a:latin typeface="Calibri"/>
              </a:rPr>
              <a:t>–  5. Decision - the pre-warm offset and the keep-alive length are DERIVED, by minimising the expected cost of the warm window jointly over both, rather than read off the distribution as percentiles. The knob that is swept is K/m, the GB-minutes a cold start is worth.</a:t>
            </a:r>
          </a:p>
          <a:p>
            <a:pPr lvl="1">
              <a:spcAft>
                <a:spcPts val="378"/>
              </a:spcAft>
            </a:pPr>
            <a:r>
              <a:rPr sz="900">
                <a:solidFill>
                  <a:srgbClr val="1A1A1A"/>
                </a:solidFill>
                <a:latin typeface="Calibri"/>
              </a:rPr>
              <a:t>–  6. Simulation - every policy is replayed minute by minute and scored, and arms are compared only at equal idle GB-minutes.</a:t>
            </a:r>
          </a:p>
          <a:p>
            <a:pPr>
              <a:spcAft>
                <a:spcPts val="378"/>
              </a:spcAft>
            </a:pPr>
            <a:r>
              <a:rPr sz="900">
                <a:solidFill>
                  <a:srgbClr val="1A1A1A"/>
                </a:solidFill>
                <a:latin typeface="Calibri"/>
              </a:rPr>
              <a:t>•  The blend weight kappa is measured in equivalent observed gaps; as it grows the estimate becomes the ATC'20 histogram exactly.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Functional Requirements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10</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67"/>
              </a:spcAft>
            </a:pPr>
            <a:r>
              <a:rPr sz="1350">
                <a:solidFill>
                  <a:srgbClr val="1A1A1A"/>
                </a:solidFill>
                <a:latin typeface="Calibri"/>
              </a:rPr>
              <a:t>•  FR1 Trace ingestion: parse the 14-day trace, aggregate functions to applications, and build a per-minute invocation matrix with duration and memory attributes joined per application.</a:t>
            </a:r>
          </a:p>
          <a:p>
            <a:pPr>
              <a:spcAft>
                <a:spcPts val="567"/>
              </a:spcAft>
            </a:pPr>
            <a:r>
              <a:rPr sz="1350">
                <a:solidFill>
                  <a:srgbClr val="1A1A1A"/>
                </a:solidFill>
                <a:latin typeface="Calibri"/>
              </a:rPr>
              <a:t>•  FR2 Information audit: for any context and any application, quantify how much of the next idle gap's entropy that context explains.</a:t>
            </a:r>
          </a:p>
          <a:p>
            <a:pPr>
              <a:spcAft>
                <a:spcPts val="567"/>
              </a:spcAft>
            </a:pPr>
            <a:r>
              <a:rPr sz="1350">
                <a:solidFill>
                  <a:srgbClr val="1A1A1A"/>
                </a:solidFill>
                <a:latin typeface="Calibri"/>
              </a:rPr>
              <a:t>•  FR3 Episodic memory: maintain, per application, the marginal and per-state conditional idle-gap histograms, updated online and only from gaps that have already closed.</a:t>
            </a:r>
          </a:p>
          <a:p>
            <a:pPr>
              <a:spcAft>
                <a:spcPts val="567"/>
              </a:spcAft>
            </a:pPr>
            <a:r>
              <a:rPr sz="1350">
                <a:solidFill>
                  <a:srgbClr val="1A1A1A"/>
                </a:solidFill>
                <a:latin typeface="Calibri"/>
              </a:rPr>
              <a:t>•  FR4 Estimation: produce a partially-pooled idle-gap distribution for the current state, reducing exactly to the marginal when the state has no support.</a:t>
            </a:r>
          </a:p>
          <a:p>
            <a:pPr>
              <a:spcAft>
                <a:spcPts val="567"/>
              </a:spcAft>
            </a:pPr>
            <a:r>
              <a:rPr sz="1350">
                <a:solidFill>
                  <a:srgbClr val="1A1A1A"/>
                </a:solidFill>
                <a:latin typeface="Calibri"/>
              </a:rPr>
              <a:t>•  FR5 Scheduling decision: choose the pre-warm offset and keep-alive length by minimising the warm window's expected cost jointly over both, taking the price of a cold start in GB-minutes as the knob; the percentile rule is retained as the baseline it replaces.</a:t>
            </a:r>
          </a:p>
          <a:p>
            <a:pPr>
              <a:spcAft>
                <a:spcPts val="567"/>
              </a:spcAft>
            </a:pPr>
            <a:r>
              <a:rPr sz="1350">
                <a:solidFill>
                  <a:srgbClr val="1A1A1A"/>
                </a:solidFill>
                <a:latin typeface="Calibri"/>
              </a:rPr>
              <a:t>•  FR6 Simulation and measurement: replay any policy over any slice and report cold starts, added latency, warm and idle-warm minutes, memory-time and cost.</a:t>
            </a:r>
          </a:p>
          <a:p>
            <a:pPr>
              <a:spcAft>
                <a:spcPts val="567"/>
              </a:spcAft>
            </a:pPr>
            <a:r>
              <a:rPr sz="1350">
                <a:solidFill>
                  <a:srgbClr val="1A1A1A"/>
                </a:solidFill>
                <a:latin typeface="Calibri"/>
              </a:rPr>
              <a:t>•  FR7 Explanation and demonstration: expose, for any application, the marginal and conditional distributions and the different windows they imply.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Modules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11</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67"/>
              </a:spcAft>
            </a:pPr>
            <a:r>
              <a:rPr sz="1350">
                <a:solidFill>
                  <a:srgbClr val="1A1A1A"/>
                </a:solidFill>
                <a:latin typeface="Calibri"/>
              </a:rPr>
              <a:t>•  M1 Data (racrp/data) - trace parsing, application aggregation, temporal and application-level splits, windowing, labelling, batched loading.</a:t>
            </a:r>
          </a:p>
          <a:p>
            <a:pPr>
              <a:spcAft>
                <a:spcPts val="567"/>
              </a:spcAft>
            </a:pPr>
            <a:r>
              <a:rPr sz="1350">
                <a:solidFill>
                  <a:srgbClr val="1A1A1A"/>
                </a:solidFill>
                <a:latin typeface="Calibri"/>
              </a:rPr>
              <a:t>•  M2 Simulator (racrp/sim) - minute-tick simulator and the policy family, verified against a reference implementation by randomised equivalence tests.</a:t>
            </a:r>
          </a:p>
          <a:p>
            <a:pPr>
              <a:spcAft>
                <a:spcPts val="567"/>
              </a:spcAft>
            </a:pPr>
            <a:r>
              <a:rPr sz="1350">
                <a:solidFill>
                  <a:srgbClr val="1A1A1A"/>
                </a:solidFill>
                <a:latin typeface="Calibri"/>
              </a:rPr>
              <a:t>•  M3 Baselines (racrp/baselines) - hybrid histogram (ATC'20) with the ARIMA-style fallback, fixed keep-alive sweep, scale-to-zero, oracle; plus the fleet estimator retained as a reported negative result.</a:t>
            </a:r>
          </a:p>
          <a:p>
            <a:pPr>
              <a:spcAft>
                <a:spcPts val="567"/>
              </a:spcAft>
            </a:pPr>
            <a:r>
              <a:rPr sz="1350">
                <a:solidFill>
                  <a:srgbClr val="1A1A1A"/>
                </a:solidFill>
                <a:latin typeface="Calibri"/>
              </a:rPr>
              <a:t>•  M4 Conditional estimator (racrp/baselines/conditional.py) - the method: per-state idle-gap histograms with quantile-space partial pooling, and the ablation keys including the random-key control.</a:t>
            </a:r>
          </a:p>
          <a:p>
            <a:pPr>
              <a:spcAft>
                <a:spcPts val="567"/>
              </a:spcAft>
            </a:pPr>
            <a:r>
              <a:rPr sz="1350">
                <a:solidFill>
                  <a:srgbClr val="1A1A1A"/>
                </a:solidFill>
                <a:latin typeface="Calibri"/>
              </a:rPr>
              <a:t>•  M5 Derived window (racrp/baselines/hazard.py) - the optimal-stopping rule: joint (offset, length) minimisation of the warm window's expected cost, O(range) per offset so it can be recomputed online, with the donor-application control the headline is reported against.</a:t>
            </a:r>
          </a:p>
          <a:p>
            <a:pPr>
              <a:spcAft>
                <a:spcPts val="567"/>
              </a:spcAft>
            </a:pPr>
            <a:r>
              <a:rPr sz="1350">
                <a:solidFill>
                  <a:srgbClr val="1A1A1A"/>
                </a:solidFill>
                <a:latin typeface="Calibri"/>
              </a:rPr>
              <a:t>•  M6 Evaluation (racrp/eval) - metrics with bootstrap confidence intervals, the policy harness, matched-cost interpolation, sparsity strata.</a:t>
            </a:r>
          </a:p>
          <a:p>
            <a:pPr>
              <a:spcAft>
                <a:spcPts val="567"/>
              </a:spcAft>
            </a:pPr>
            <a:r>
              <a:rPr sz="1350">
                <a:solidFill>
                  <a:srgbClr val="1A1A1A"/>
                </a:solidFill>
                <a:latin typeface="Calibri"/>
              </a:rPr>
              <a:t>•  M7 Web demonstration (racrp/web) - FastAPI over precomputed artefacts and an offline dashboard.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200" b="1">
                <a:solidFill>
                  <a:srgbClr val="6B2D8E"/>
                </a:solidFill>
                <a:latin typeface="Calibri"/>
              </a:rPr>
              <a:t>Experiments and Results  -  the headline, at matched memory cost</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12</a:t>
            </a:r>
          </a:p>
        </p:txBody>
      </p:sp>
      <p:graphicFrame>
        <p:nvGraphicFramePr>
          <p:cNvPr id="6" name="Table 5"/>
          <p:cNvGraphicFramePr>
            <a:graphicFrameLocks noGrp="1"/>
          </p:cNvGraphicFramePr>
          <p:nvPr/>
        </p:nvGraphicFramePr>
        <p:xfrm>
          <a:off x="548640" y="1371600"/>
          <a:ext cx="11091671" cy="2148840"/>
        </p:xfrm>
        <a:graphic>
          <a:graphicData uri="http://schemas.openxmlformats.org/drawingml/2006/table">
            <a:tbl>
              <a:tblPr firstRow="1" bandRow="1">
                <a:tableStyleId>{5C22544A-7EE6-4342-B048-85BDC9FD1C3A}</a:tableStyleId>
              </a:tblPr>
              <a:tblGrid>
                <a:gridCol w="5545836"/>
                <a:gridCol w="2218334"/>
                <a:gridCol w="2403195"/>
                <a:gridCol w="924306"/>
              </a:tblGrid>
              <a:tr h="429768">
                <a:tc>
                  <a:txBody>
                    <a:bodyPr wrap="square"/>
                    <a:lstStyle/>
                    <a:p>
                      <a:r>
                        <a:rPr sz="1200" b="1">
                          <a:solidFill>
                            <a:srgbClr val="6B2D8E"/>
                          </a:solidFill>
                          <a:latin typeface="Calibri"/>
                        </a:rPr>
                        <a:t>Arm (all vs the deployed ATC'20 policy)</a:t>
                      </a:r>
                    </a:p>
                  </a:txBody>
                  <a:tcPr marL="54864" marR="54864" marT="27432" marB="27432">
                    <a:solidFill>
                      <a:srgbClr val="EFEAF4"/>
                    </a:solidFill>
                  </a:tcPr>
                </a:tc>
                <a:tc>
                  <a:txBody>
                    <a:bodyPr wrap="square"/>
                    <a:lstStyle/>
                    <a:p>
                      <a:r>
                        <a:rPr sz="1200" b="1">
                          <a:solidFill>
                            <a:srgbClr val="6B2D8E"/>
                          </a:solidFill>
                          <a:latin typeface="Calibri"/>
                        </a:rPr>
                        <a:t>Median cold-start reduction</a:t>
                      </a:r>
                    </a:p>
                  </a:txBody>
                  <a:tcPr marL="54864" marR="54864" marT="27432" marB="27432">
                    <a:solidFill>
                      <a:srgbClr val="EFEAF4"/>
                    </a:solidFill>
                  </a:tcPr>
                </a:tc>
                <a:tc>
                  <a:txBody>
                    <a:bodyPr wrap="square"/>
                    <a:lstStyle/>
                    <a:p>
                      <a:r>
                        <a:rPr sz="1200" b="1">
                          <a:solidFill>
                            <a:srgbClr val="6B2D8E"/>
                          </a:solidFill>
                          <a:latin typeface="Calibri"/>
                        </a:rPr>
                        <a:t>Range</a:t>
                      </a:r>
                    </a:p>
                  </a:txBody>
                  <a:tcPr marL="54864" marR="54864" marT="27432" marB="27432">
                    <a:solidFill>
                      <a:srgbClr val="EFEAF4"/>
                    </a:solidFill>
                  </a:tcPr>
                </a:tc>
                <a:tc>
                  <a:txBody>
                    <a:bodyPr wrap="square"/>
                    <a:lstStyle/>
                    <a:p>
                      <a:r>
                        <a:rPr sz="1200" b="1">
                          <a:solidFill>
                            <a:srgbClr val="6B2D8E"/>
                          </a:solidFill>
                          <a:latin typeface="Calibri"/>
                        </a:rPr>
                        <a:t>Points</a:t>
                      </a:r>
                    </a:p>
                  </a:txBody>
                  <a:tcPr marL="54864" marR="54864" marT="27432" marB="27432">
                    <a:solidFill>
                      <a:srgbClr val="EFEAF4"/>
                    </a:solidFill>
                  </a:tcPr>
                </a:tc>
              </a:tr>
              <a:tr h="429768">
                <a:tc>
                  <a:txBody>
                    <a:bodyPr wrap="square"/>
                    <a:lstStyle/>
                    <a:p>
                      <a:r>
                        <a:rPr sz="1150" b="1">
                          <a:solidFill>
                            <a:srgbClr val="6B2D8E"/>
                          </a:solidFill>
                          <a:latin typeface="Calibri"/>
                        </a:rPr>
                        <a:t>Window DERIVED from the cost model</a:t>
                      </a:r>
                    </a:p>
                  </a:txBody>
                  <a:tcPr marL="54864" marR="54864" marT="27432" marB="27432">
                    <a:solidFill>
                      <a:srgbClr val="F7F4FA"/>
                    </a:solidFill>
                  </a:tcPr>
                </a:tc>
                <a:tc>
                  <a:txBody>
                    <a:bodyPr wrap="square"/>
                    <a:lstStyle/>
                    <a:p>
                      <a:r>
                        <a:rPr sz="1150" b="1">
                          <a:solidFill>
                            <a:srgbClr val="6B2D8E"/>
                          </a:solidFill>
                          <a:latin typeface="Calibri"/>
                        </a:rPr>
                        <a:t>+78.8%</a:t>
                      </a:r>
                    </a:p>
                  </a:txBody>
                  <a:tcPr marL="54864" marR="54864" marT="27432" marB="27432">
                    <a:solidFill>
                      <a:srgbClr val="F7F4FA"/>
                    </a:solidFill>
                  </a:tcPr>
                </a:tc>
                <a:tc>
                  <a:txBody>
                    <a:bodyPr wrap="square"/>
                    <a:lstStyle/>
                    <a:p>
                      <a:r>
                        <a:rPr sz="1150" b="1">
                          <a:solidFill>
                            <a:srgbClr val="6B2D8E"/>
                          </a:solidFill>
                          <a:latin typeface="Calibri"/>
                        </a:rPr>
                        <a:t>+15.6% to +89.0%</a:t>
                      </a:r>
                    </a:p>
                  </a:txBody>
                  <a:tcPr marL="54864" marR="54864" marT="27432" marB="27432">
                    <a:solidFill>
                      <a:srgbClr val="F7F4FA"/>
                    </a:solidFill>
                  </a:tcPr>
                </a:tc>
                <a:tc>
                  <a:txBody>
                    <a:bodyPr wrap="square"/>
                    <a:lstStyle/>
                    <a:p>
                      <a:r>
                        <a:rPr sz="1150" b="1">
                          <a:solidFill>
                            <a:srgbClr val="6B2D8E"/>
                          </a:solidFill>
                          <a:latin typeface="Calibri"/>
                        </a:rPr>
                        <a:t>6</a:t>
                      </a:r>
                    </a:p>
                  </a:txBody>
                  <a:tcPr marL="54864" marR="54864" marT="27432" marB="27432">
                    <a:solidFill>
                      <a:srgbClr val="F7F4FA"/>
                    </a:solidFill>
                  </a:tcPr>
                </a:tc>
              </a:tr>
              <a:tr h="429768">
                <a:tc>
                  <a:txBody>
                    <a:bodyPr wrap="square"/>
                    <a:lstStyle/>
                    <a:p>
                      <a:r>
                        <a:rPr sz="1150" b="0">
                          <a:solidFill>
                            <a:srgbClr val="1A1A1A"/>
                          </a:solidFill>
                          <a:latin typeface="Calibri"/>
                        </a:rPr>
                        <a:t>Derived window + conditioning</a:t>
                      </a:r>
                    </a:p>
                  </a:txBody>
                  <a:tcPr marL="54864" marR="54864" marT="27432" marB="27432">
                    <a:solidFill>
                      <a:srgbClr val="FFFFFF"/>
                    </a:solidFill>
                  </a:tcPr>
                </a:tc>
                <a:tc>
                  <a:txBody>
                    <a:bodyPr wrap="square"/>
                    <a:lstStyle/>
                    <a:p>
                      <a:r>
                        <a:rPr sz="1150" b="0">
                          <a:solidFill>
                            <a:srgbClr val="1A1A1A"/>
                          </a:solidFill>
                          <a:latin typeface="Calibri"/>
                        </a:rPr>
                        <a:t>+68.6%</a:t>
                      </a:r>
                    </a:p>
                  </a:txBody>
                  <a:tcPr marL="54864" marR="54864" marT="27432" marB="27432">
                    <a:solidFill>
                      <a:srgbClr val="FFFFFF"/>
                    </a:solidFill>
                  </a:tcPr>
                </a:tc>
                <a:tc>
                  <a:txBody>
                    <a:bodyPr wrap="square"/>
                    <a:lstStyle/>
                    <a:p>
                      <a:r>
                        <a:rPr sz="1150" b="0">
                          <a:solidFill>
                            <a:srgbClr val="1A1A1A"/>
                          </a:solidFill>
                          <a:latin typeface="Calibri"/>
                        </a:rPr>
                        <a:t>-20.7% to +89.3%</a:t>
                      </a:r>
                    </a:p>
                  </a:txBody>
                  <a:tcPr marL="54864" marR="54864" marT="27432" marB="27432">
                    <a:solidFill>
                      <a:srgbClr val="FFFFFF"/>
                    </a:solidFill>
                  </a:tcPr>
                </a:tc>
                <a:tc>
                  <a:txBody>
                    <a:bodyPr wrap="square"/>
                    <a:lstStyle/>
                    <a:p>
                      <a:r>
                        <a:rPr sz="1150" b="0">
                          <a:solidFill>
                            <a:srgbClr val="1A1A1A"/>
                          </a:solidFill>
                          <a:latin typeface="Calibri"/>
                        </a:rPr>
                        <a:t>6</a:t>
                      </a:r>
                    </a:p>
                  </a:txBody>
                  <a:tcPr marL="54864" marR="54864" marT="27432" marB="27432">
                    <a:solidFill>
                      <a:srgbClr val="FFFFFF"/>
                    </a:solidFill>
                  </a:tcPr>
                </a:tc>
              </a:tr>
              <a:tr h="429768">
                <a:tc>
                  <a:txBody>
                    <a:bodyPr wrap="square"/>
                    <a:lstStyle/>
                    <a:p>
                      <a:r>
                        <a:rPr sz="1150" b="0">
                          <a:solidFill>
                            <a:srgbClr val="1A1A1A"/>
                          </a:solidFill>
                          <a:latin typeface="Calibri"/>
                        </a:rPr>
                        <a:t>Conditioning only (percentile window)</a:t>
                      </a:r>
                    </a:p>
                  </a:txBody>
                  <a:tcPr marL="54864" marR="54864" marT="27432" marB="27432">
                    <a:solidFill>
                      <a:srgbClr val="FFFFFF"/>
                    </a:solidFill>
                  </a:tcPr>
                </a:tc>
                <a:tc>
                  <a:txBody>
                    <a:bodyPr wrap="square"/>
                    <a:lstStyle/>
                    <a:p>
                      <a:r>
                        <a:rPr sz="1150" b="0">
                          <a:solidFill>
                            <a:srgbClr val="1A1A1A"/>
                          </a:solidFill>
                          <a:latin typeface="Calibri"/>
                        </a:rPr>
                        <a:t>+26.3%</a:t>
                      </a:r>
                    </a:p>
                  </a:txBody>
                  <a:tcPr marL="54864" marR="54864" marT="27432" marB="27432">
                    <a:solidFill>
                      <a:srgbClr val="FFFFFF"/>
                    </a:solidFill>
                  </a:tcPr>
                </a:tc>
                <a:tc>
                  <a:txBody>
                    <a:bodyPr wrap="square"/>
                    <a:lstStyle/>
                    <a:p>
                      <a:r>
                        <a:rPr sz="1150" b="0">
                          <a:solidFill>
                            <a:srgbClr val="1A1A1A"/>
                          </a:solidFill>
                          <a:latin typeface="Calibri"/>
                        </a:rPr>
                        <a:t>+19.0% to +30.7%</a:t>
                      </a:r>
                    </a:p>
                  </a:txBody>
                  <a:tcPr marL="54864" marR="54864" marT="27432" marB="27432">
                    <a:solidFill>
                      <a:srgbClr val="FFFFFF"/>
                    </a:solidFill>
                  </a:tcPr>
                </a:tc>
                <a:tc>
                  <a:txBody>
                    <a:bodyPr wrap="square"/>
                    <a:lstStyle/>
                    <a:p>
                      <a:r>
                        <a:rPr sz="1150" b="0">
                          <a:solidFill>
                            <a:srgbClr val="1A1A1A"/>
                          </a:solidFill>
                          <a:latin typeface="Calibri"/>
                        </a:rPr>
                        <a:t>5</a:t>
                      </a:r>
                    </a:p>
                  </a:txBody>
                  <a:tcPr marL="54864" marR="54864" marT="27432" marB="27432">
                    <a:solidFill>
                      <a:srgbClr val="FFFFFF"/>
                    </a:solidFill>
                  </a:tcPr>
                </a:tc>
              </a:tr>
              <a:tr h="429768">
                <a:tc>
                  <a:txBody>
                    <a:bodyPr wrap="square"/>
                    <a:lstStyle/>
                    <a:p>
                      <a:r>
                        <a:rPr sz="1150" b="1">
                          <a:solidFill>
                            <a:srgbClr val="6B2D8E"/>
                          </a:solidFill>
                          <a:latin typeface="Calibri"/>
                        </a:rPr>
                        <a:t>CONTROL - same optimiser, a donor application's history</a:t>
                      </a:r>
                    </a:p>
                  </a:txBody>
                  <a:tcPr marL="54864" marR="54864" marT="27432" marB="27432">
                    <a:solidFill>
                      <a:srgbClr val="F7F4FA"/>
                    </a:solidFill>
                  </a:tcPr>
                </a:tc>
                <a:tc>
                  <a:txBody>
                    <a:bodyPr wrap="square"/>
                    <a:lstStyle/>
                    <a:p>
                      <a:r>
                        <a:rPr sz="1150" b="1">
                          <a:solidFill>
                            <a:srgbClr val="6B2D8E"/>
                          </a:solidFill>
                          <a:latin typeface="Calibri"/>
                        </a:rPr>
                        <a:t>-427.5%</a:t>
                      </a:r>
                    </a:p>
                  </a:txBody>
                  <a:tcPr marL="54864" marR="54864" marT="27432" marB="27432">
                    <a:solidFill>
                      <a:srgbClr val="F7F4FA"/>
                    </a:solidFill>
                  </a:tcPr>
                </a:tc>
                <a:tc>
                  <a:txBody>
                    <a:bodyPr wrap="square"/>
                    <a:lstStyle/>
                    <a:p>
                      <a:r>
                        <a:rPr sz="1150" b="1">
                          <a:solidFill>
                            <a:srgbClr val="6B2D8E"/>
                          </a:solidFill>
                          <a:latin typeface="Calibri"/>
                        </a:rPr>
                        <a:t>-1819.8% to -110.4%</a:t>
                      </a:r>
                    </a:p>
                  </a:txBody>
                  <a:tcPr marL="54864" marR="54864" marT="27432" marB="27432">
                    <a:solidFill>
                      <a:srgbClr val="F7F4FA"/>
                    </a:solidFill>
                  </a:tcPr>
                </a:tc>
                <a:tc>
                  <a:txBody>
                    <a:bodyPr wrap="square"/>
                    <a:lstStyle/>
                    <a:p>
                      <a:r>
                        <a:rPr sz="1150" b="1">
                          <a:solidFill>
                            <a:srgbClr val="6B2D8E"/>
                          </a:solidFill>
                          <a:latin typeface="Calibri"/>
                        </a:rPr>
                        <a:t>6</a:t>
                      </a:r>
                    </a:p>
                  </a:txBody>
                  <a:tcPr marL="54864" marR="54864" marT="27432" marB="27432">
                    <a:solidFill>
                      <a:srgbClr val="F7F4FA"/>
                    </a:solidFill>
                  </a:tcPr>
                </a:tc>
              </a:tr>
            </a:tbl>
          </a:graphicData>
        </a:graphic>
      </p:graphicFrame>
      <p:sp>
        <p:nvSpPr>
          <p:cNvPr id="7" name="TextBox 6"/>
          <p:cNvSpPr txBox="1"/>
          <p:nvPr/>
        </p:nvSpPr>
        <p:spPr>
          <a:xfrm>
            <a:off x="548640" y="3794760"/>
            <a:ext cx="11091672" cy="1234440"/>
          </a:xfrm>
          <a:prstGeom prst="rect">
            <a:avLst/>
          </a:prstGeom>
          <a:noFill/>
        </p:spPr>
        <p:txBody>
          <a:bodyPr wrap="square" lIns="0" rIns="0" tIns="0" bIns="0">
            <a:spAutoFit/>
          </a:bodyPr>
          <a:lstStyle/>
          <a:p>
            <a:pPr>
              <a:spcAft>
                <a:spcPts val="546"/>
              </a:spcAft>
            </a:pPr>
            <a:r>
              <a:rPr sz="1300">
                <a:solidFill>
                  <a:srgbClr val="1A1A1A"/>
                </a:solidFill>
                <a:latin typeface="Calibri"/>
              </a:rPr>
              <a:t>•  Against a STRENGTHENED baseline - ATC'20 swept over both of its percentiles, 36 configurations, lower envelope taken, chosen with the test period in view - the derived window still wins by 67.6% median, positive at all 13 budgets.</a:t>
            </a:r>
          </a:p>
          <a:p>
            <a:pPr>
              <a:spcAft>
                <a:spcPts val="546"/>
              </a:spcAft>
            </a:pPr>
            <a:r>
              <a:rPr sz="1300">
                <a:solidFill>
                  <a:srgbClr val="595959"/>
                </a:solidFill>
                <a:latin typeface="Calibri"/>
              </a:rPr>
              <a:t>•  1,999 applications, held-out test days 11-14, every arm swept over its own cost knob and compared only at equal idle GB-minutes.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200" b="1">
                <a:solidFill>
                  <a:srgbClr val="6B2D8E"/>
                </a:solidFill>
                <a:latin typeface="Calibri"/>
              </a:rPr>
              <a:t>Experiments and Results  -  cost/benefit curves, not point claims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13</a:t>
            </a:r>
          </a:p>
        </p:txBody>
      </p:sp>
      <p:pic>
        <p:nvPicPr>
          <p:cNvPr id="6" name="Picture 5" descr="derived_frontier.png"/>
          <p:cNvPicPr>
            <a:picLocks noChangeAspect="1"/>
          </p:cNvPicPr>
          <p:nvPr/>
        </p:nvPicPr>
        <p:blipFill>
          <a:blip r:embed="rId2"/>
          <a:stretch>
            <a:fillRect/>
          </a:stretch>
        </p:blipFill>
        <p:spPr>
          <a:xfrm>
            <a:off x="1042914" y="1325880"/>
            <a:ext cx="10075692" cy="3977639"/>
          </a:xfrm>
          <a:prstGeom prst="rect">
            <a:avLst/>
          </a:prstGeom>
        </p:spPr>
      </p:pic>
      <p:sp>
        <p:nvSpPr>
          <p:cNvPr id="7" name="TextBox 6"/>
          <p:cNvSpPr txBox="1"/>
          <p:nvPr/>
        </p:nvSpPr>
        <p:spPr>
          <a:xfrm>
            <a:off x="548640" y="5440680"/>
            <a:ext cx="11091672" cy="868680"/>
          </a:xfrm>
          <a:prstGeom prst="rect">
            <a:avLst/>
          </a:prstGeom>
          <a:noFill/>
        </p:spPr>
        <p:txBody>
          <a:bodyPr wrap="square" lIns="0" rIns="0" tIns="0" bIns="0">
            <a:spAutoFit/>
          </a:bodyPr>
          <a:lstStyle/>
          <a:p>
            <a:pPr>
              <a:spcAft>
                <a:spcPts val="504"/>
              </a:spcAft>
            </a:pPr>
            <a:r>
              <a:rPr sz="1200">
                <a:solidFill>
                  <a:srgbClr val="1A1A1A"/>
                </a:solidFill>
                <a:latin typeface="Calibri"/>
              </a:rPr>
              <a:t>•  Left: every one of the 36 tuned ATC'20 percentile pairs (dots), their best reachable frontier (blue), and the derived window (red).</a:t>
            </a:r>
          </a:p>
          <a:p>
            <a:pPr>
              <a:spcAft>
                <a:spcPts val="504"/>
              </a:spcAft>
            </a:pPr>
            <a:r>
              <a:rPr sz="1200">
                <a:solidFill>
                  <a:srgbClr val="595959"/>
                </a:solidFill>
                <a:latin typeface="Calibri"/>
              </a:rPr>
              <a:t>•  Right: the gain at each of the baseline's own operating points - and the budget at which it runs out. When memory is nearly free there is little left for an optimiser to recover.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200" b="1">
                <a:solidFill>
                  <a:srgbClr val="6B2D8E"/>
                </a:solidFill>
                <a:latin typeface="Calibri"/>
              </a:rPr>
              <a:t>Why we believe it: the control, and a composition that fails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14</a:t>
            </a:r>
          </a:p>
        </p:txBody>
      </p:sp>
      <p:pic>
        <p:nvPicPr>
          <p:cNvPr id="6" name="Picture 5" descr="derived_composition.png"/>
          <p:cNvPicPr>
            <a:picLocks noChangeAspect="1"/>
          </p:cNvPicPr>
          <p:nvPr/>
        </p:nvPicPr>
        <p:blipFill>
          <a:blip r:embed="rId2"/>
          <a:stretch>
            <a:fillRect/>
          </a:stretch>
        </p:blipFill>
        <p:spPr>
          <a:xfrm>
            <a:off x="1932367" y="1280160"/>
            <a:ext cx="8296785" cy="3611880"/>
          </a:xfrm>
          <a:prstGeom prst="rect">
            <a:avLst/>
          </a:prstGeom>
        </p:spPr>
      </p:pic>
      <p:sp>
        <p:nvSpPr>
          <p:cNvPr id="7" name="TextBox 6"/>
          <p:cNvSpPr txBox="1"/>
          <p:nvPr/>
        </p:nvSpPr>
        <p:spPr>
          <a:xfrm>
            <a:off x="548640" y="5029200"/>
            <a:ext cx="11091672" cy="1234440"/>
          </a:xfrm>
          <a:prstGeom prst="rect">
            <a:avLst/>
          </a:prstGeom>
          <a:noFill/>
        </p:spPr>
        <p:txBody>
          <a:bodyPr wrap="square" lIns="0" rIns="0" tIns="0" bIns="0">
            <a:spAutoFit/>
          </a:bodyPr>
          <a:lstStyle/>
          <a:p>
            <a:pPr>
              <a:spcAft>
                <a:spcPts val="504"/>
              </a:spcAft>
            </a:pPr>
            <a:r>
              <a:rPr sz="1200" b="1">
                <a:solidFill>
                  <a:srgbClr val="A82A2A"/>
                </a:solidFill>
                <a:latin typeface="Calibri"/>
              </a:rPr>
              <a:t>•  The same optimiser, same price, same simulator - given ANOTHER application's gap histogram - lands at -427%, far worse than the baseline it was beating. The gain requires each application's own history.</a:t>
            </a:r>
          </a:p>
          <a:p>
            <a:pPr>
              <a:spcAft>
                <a:spcPts val="504"/>
              </a:spcAft>
            </a:pPr>
            <a:r>
              <a:rPr sz="1200">
                <a:solidFill>
                  <a:srgbClr val="1A1A1A"/>
                </a:solidFill>
                <a:latin typeface="Calibri"/>
              </a:rPr>
              <a:t>•  The two ideas do not compose: a percentile survives sparse counts, a cost-optimal window needs the tail estimated well, and conditioning fragments the counts that estimate it.</a:t>
            </a:r>
          </a:p>
          <a:p>
            <a:pPr>
              <a:spcAft>
                <a:spcPts val="504"/>
              </a:spcAft>
            </a:pPr>
            <a:r>
              <a:rPr sz="1200">
                <a:solidFill>
                  <a:srgbClr val="595959"/>
                </a:solidFill>
                <a:latin typeface="Calibri"/>
              </a:rPr>
              <a:t>•  The one hyper-parameter was chosen on VALIDATION (= 25). The setting that scores best on the test period ranks LAST on validation.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Controls, Negative Results and Limitations</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15</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46"/>
              </a:spcAft>
            </a:pPr>
            <a:r>
              <a:rPr sz="1300" b="1">
                <a:solidFill>
                  <a:srgbClr val="6B2D8E"/>
                </a:solidFill>
                <a:latin typeface="Calibri"/>
              </a:rPr>
              <a:t>•  Negative results, reported because we ran the controls</a:t>
            </a:r>
          </a:p>
          <a:p>
            <a:pPr lvl="1">
              <a:spcAft>
                <a:spcPts val="546"/>
              </a:spcAft>
            </a:pPr>
            <a:r>
              <a:rPr sz="1300">
                <a:solidFill>
                  <a:srgbClr val="1A1A1A"/>
                </a:solidFill>
                <a:latin typeface="Calibri"/>
              </a:rPr>
              <a:t>–  Retrieving situations across applications: null. Every application already had its own history in its features, so a shared memory was redundant by construction, and the random-memory control said so.</a:t>
            </a:r>
          </a:p>
          <a:p>
            <a:pPr lvl="1">
              <a:spcAft>
                <a:spcPts val="546"/>
              </a:spcAft>
            </a:pPr>
            <a:r>
              <a:rPr sz="1300">
                <a:solidFill>
                  <a:srgbClr val="1A1A1A"/>
                </a:solidFill>
                <a:latin typeface="Calibri"/>
              </a:rPr>
              <a:t>–  Borrowing idle-gap distributions across applications: loses at matched cost, and an ORACLE retriever that picks the applications whose true distribution is closest loses too. Applications are individuals.</a:t>
            </a:r>
          </a:p>
          <a:p>
            <a:pPr lvl="1">
              <a:spcAft>
                <a:spcPts val="546"/>
              </a:spcAft>
            </a:pPr>
            <a:r>
              <a:rPr sz="1300">
                <a:solidFill>
                  <a:srgbClr val="1A1A1A"/>
                </a:solidFill>
                <a:latin typeface="Calibri"/>
              </a:rPr>
              <a:t>–  Conditioning on a rich key (time of day, day of week, recent activity shape, k-nearest-neighbour lookup): loses. The information audit explains why - those contexts explain 4-9% of the gap's entropy, too little to pay for the variance of estimating a distribution from a few dozen neighbours.</a:t>
            </a:r>
          </a:p>
          <a:p>
            <a:pPr>
              <a:spcAft>
                <a:spcPts val="546"/>
              </a:spcAft>
            </a:pPr>
            <a:r>
              <a:rPr sz="1300" b="1">
                <a:solidFill>
                  <a:srgbClr val="6B2D8E"/>
                </a:solidFill>
                <a:latin typeface="Calibri"/>
              </a:rPr>
              <a:t>•  Threats to validity</a:t>
            </a:r>
          </a:p>
          <a:p>
            <a:pPr lvl="1">
              <a:spcAft>
                <a:spcPts val="546"/>
              </a:spcAft>
            </a:pPr>
            <a:r>
              <a:rPr sz="1300">
                <a:solidFill>
                  <a:srgbClr val="1A1A1A"/>
                </a:solidFill>
                <a:latin typeface="Calibri"/>
              </a:rPr>
              <a:t>–  Simulation, not deployment. Cold starts are counted in a minute-tick simulator because the trace records per-minute counts, not individual request timestamps. The cold-start latency model is taken from published measurements, so absolute latency figures are relative comparisons.</a:t>
            </a:r>
          </a:p>
          <a:p>
            <a:pPr lvl="1">
              <a:spcAft>
                <a:spcPts val="546"/>
              </a:spcAft>
            </a:pPr>
            <a:r>
              <a:rPr sz="1300">
                <a:solidFill>
                  <a:srgbClr val="1A1A1A"/>
                </a:solidFill>
                <a:latin typeface="Calibri"/>
              </a:rPr>
              <a:t>–  One instance per application. Concurrency within an application is aggregated, following the evaluation methodology of the works compared against.</a:t>
            </a:r>
          </a:p>
          <a:p>
            <a:pPr lvl="1">
              <a:spcAft>
                <a:spcPts val="546"/>
              </a:spcAft>
            </a:pPr>
            <a:r>
              <a:rPr sz="1300">
                <a:solidFill>
                  <a:srgbClr val="1A1A1A"/>
                </a:solidFill>
                <a:latin typeface="Calibri"/>
              </a:rPr>
              <a:t>–  A single trace. Results are established on the Azure 2019 trace; the Huawei trace released at EuroSys 2025 is the intended second test.</a:t>
            </a:r>
          </a:p>
          <a:p>
            <a:pPr lvl="1">
              <a:spcAft>
                <a:spcPts val="546"/>
              </a:spcAft>
            </a:pPr>
            <a:r>
              <a:rPr sz="1300">
                <a:solidFill>
                  <a:srgbClr val="1A1A1A"/>
                </a:solidFill>
                <a:latin typeface="Calibri"/>
              </a:rPr>
              <a:t>–  The information audit uses discretised contexts, so it lower-bounds what a continuous predictor could extract. The bound is loose in principle, but the measured margins are wide enough that the conclusion is robust to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Conclusion</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16</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46"/>
              </a:spcAft>
            </a:pPr>
            <a:r>
              <a:rPr sz="1300" b="1">
                <a:solidFill>
                  <a:srgbClr val="1B6E3C"/>
                </a:solidFill>
                <a:latin typeface="Calibri"/>
              </a:rPr>
              <a:t>•  RESULT. The deployed policy reads its warm window off two fixed percentiles. Deriving it instead - minimising the window's expected cost - cuts cold starts by 78.8% at matched memory cost, and by 67.6% against a baseline allowed to tune both percentiles. The knob becomes K/m - GB-minutes a cold start is worth - which an operator can quote.</a:t>
            </a:r>
          </a:p>
          <a:p>
            <a:pPr>
              <a:spcAft>
                <a:spcPts val="546"/>
              </a:spcAft>
            </a:pPr>
            <a:r>
              <a:rPr sz="1300" b="1">
                <a:solidFill>
                  <a:srgbClr val="A82A2A"/>
                </a:solidFill>
                <a:latin typeface="Calibri"/>
              </a:rPr>
              <a:t>•  CONTROL FIRST. The identical optimiser on a donor application's history lands at -427%. The gain is not good window sizes on average; it needs each application's own past.</a:t>
            </a:r>
          </a:p>
          <a:p>
            <a:pPr>
              <a:spcAft>
                <a:spcPts val="546"/>
              </a:spcAft>
            </a:pPr>
            <a:r>
              <a:rPr sz="1300">
                <a:solidFill>
                  <a:srgbClr val="1A1A1A"/>
                </a:solidFill>
                <a:latin typeface="Calibri"/>
              </a:rPr>
              <a:t>•  SECOND RESULT. The same histogram is also a marginal - it forgets the state each gap occurred in. Conditioning on that state gives 26.3%, with the deployed policy recovered exactly as the limiting case. The two do not compose (68.6% together).</a:t>
            </a:r>
          </a:p>
          <a:p>
            <a:pPr>
              <a:spcAft>
                <a:spcPts val="546"/>
              </a:spcAft>
            </a:pPr>
            <a:r>
              <a:rPr sz="1300">
                <a:solidFill>
                  <a:srgbClr val="1A1A1A"/>
                </a:solidFill>
                <a:latin typeface="Calibri"/>
              </a:rPr>
              <a:t>•  WHY THIS METHOD. An information audit run before any policy found ~89% of the next idle gap's entropy irreducible, and localised the rest in the previous gap (11.0%). That one measurement explains three earlier negative results and selects the estimator.</a:t>
            </a:r>
          </a:p>
          <a:p>
            <a:pPr>
              <a:spcAft>
                <a:spcPts val="546"/>
              </a:spcAft>
            </a:pPr>
            <a:r>
              <a:rPr sz="1300">
                <a:solidFill>
                  <a:srgbClr val="595959"/>
                </a:solidFill>
                <a:latin typeface="Calibri"/>
              </a:rPr>
              <a:t>•  PROJECT-II. Non-stationarity rather than scarcity; multi-instance concurrency; carrying the derived rule to a second trace (Huawei, EuroSys'25); and the loose-budget regime where the gain fades, which we can describe but not yet fix.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References (1/2)</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17</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04"/>
              </a:spcAft>
            </a:pPr>
            <a:r>
              <a:rPr sz="1200">
                <a:solidFill>
                  <a:srgbClr val="1A1A1A"/>
                </a:solidFill>
                <a:latin typeface="Calibri"/>
              </a:rPr>
              <a:t>[1]  A. Joosen et al., "Serverless cold starts and where to find them," in Proc. EuroSys, 2025, pp. 938-953.</a:t>
            </a:r>
          </a:p>
          <a:p>
            <a:pPr>
              <a:spcAft>
                <a:spcPts val="504"/>
              </a:spcAft>
            </a:pPr>
            <a:r>
              <a:rPr sz="1200">
                <a:solidFill>
                  <a:srgbClr val="1A1A1A"/>
                </a:solidFill>
                <a:latin typeface="Calibri"/>
              </a:rPr>
              <a:t>[2]  S. Han, S. Lee, M. Cha, S. O. Arik, and J. Yoon, "Retrieval augmented time series forecasting," in Proc. ICML, 2025.</a:t>
            </a:r>
          </a:p>
          <a:p>
            <a:pPr>
              <a:spcAft>
                <a:spcPts val="504"/>
              </a:spcAft>
            </a:pPr>
            <a:r>
              <a:rPr sz="1200">
                <a:solidFill>
                  <a:srgbClr val="1A1A1A"/>
                </a:solidFill>
                <a:latin typeface="Calibri"/>
              </a:rPr>
              <a:t>[3]  Q. Hu, H. Li, and E. Nikougoftar, "Mitigating cold start problem in serverless computing using predictive pre-warming with machine learning," Computing, vol. 107, art. 27, 2025.</a:t>
            </a:r>
          </a:p>
          <a:p>
            <a:pPr>
              <a:spcAft>
                <a:spcPts val="504"/>
              </a:spcAft>
            </a:pPr>
            <a:r>
              <a:rPr sz="1200">
                <a:solidFill>
                  <a:srgbClr val="1A1A1A"/>
                </a:solidFill>
                <a:latin typeface="Calibri"/>
              </a:rPr>
              <a:t>[4]  C. Nguyen, M. Bhuyan, and E. Elmroth, "Taming cold starts: Proactive serverless scheduling with model predictive control," arXiv:2508.07640, 2025.</a:t>
            </a:r>
          </a:p>
          <a:p>
            <a:pPr>
              <a:spcAft>
                <a:spcPts val="504"/>
              </a:spcAft>
            </a:pPr>
            <a:r>
              <a:rPr sz="1200">
                <a:solidFill>
                  <a:srgbClr val="1A1A1A"/>
                </a:solidFill>
                <a:latin typeface="Calibri"/>
              </a:rPr>
              <a:t>[5]  M. Golec et al., "Cold start latency in serverless computing: A systematic review, taxonomy, and future directions," ACM Comput. Surv., vol. 57, no. 3, art. 65, 2024.</a:t>
            </a:r>
          </a:p>
          <a:p>
            <a:pPr>
              <a:spcAft>
                <a:spcPts val="504"/>
              </a:spcAft>
            </a:pPr>
            <a:r>
              <a:rPr sz="1200">
                <a:solidFill>
                  <a:srgbClr val="1A1A1A"/>
                </a:solidFill>
                <a:latin typeface="Calibri"/>
              </a:rPr>
              <a:t>[6]  P. Vahidinia, B. Farahani, and F. S. Aliee, "Mitigating cold start problem in serverless computing: A reinforcement learning approach," IEEE Internet Things J., vol. 10, no. 5, pp. 3917-3927, 2023.</a:t>
            </a:r>
          </a:p>
          <a:p>
            <a:pPr>
              <a:spcAft>
                <a:spcPts val="504"/>
              </a:spcAft>
            </a:pPr>
            <a:r>
              <a:rPr sz="1200">
                <a:solidFill>
                  <a:srgbClr val="1A1A1A"/>
                </a:solidFill>
                <a:latin typeface="Calibri"/>
              </a:rPr>
              <a:t>[7]  R. B. Roy, T. Patel, and D. Tiwari, "IceBreaker: Warming serverless functions better with heterogeneity," in Proc. ACM ASPLOS, 2022, pp. 753-767.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566928"/>
            <a:ext cx="11091672" cy="731520"/>
          </a:xfrm>
          <a:prstGeom prst="rect">
            <a:avLst/>
          </a:prstGeom>
          <a:noFill/>
        </p:spPr>
        <p:txBody>
          <a:bodyPr wrap="square">
            <a:spAutoFit/>
          </a:bodyPr>
          <a:lstStyle/>
          <a:p>
            <a:r>
              <a:rPr sz="2600" b="1">
                <a:solidFill>
                  <a:srgbClr val="6B2D8E"/>
                </a:solidFill>
                <a:latin typeface="Calibri"/>
              </a:rPr>
              <a:t>References (2/2)</a:t>
            </a:r>
          </a:p>
        </p:txBody>
      </p:sp>
      <p:sp>
        <p:nvSpPr>
          <p:cNvPr id="3" name="TextBox 2"/>
          <p:cNvSpPr txBox="1"/>
          <p:nvPr/>
        </p:nvSpPr>
        <p:spPr>
          <a:xfrm>
            <a:off x="838200" y="6356350"/>
            <a:ext cx="2743200" cy="365125"/>
          </a:xfrm>
          <a:prstGeom prst="rect">
            <a:avLst/>
          </a:prstGeom>
          <a:noFill/>
        </p:spPr>
        <p:txBody>
          <a:bodyPr wrap="none">
            <a:spAutoFit/>
          </a:bodyPr>
          <a:lstStyle/>
          <a:p>
            <a:pPr/>
            <a:r>
              <a:rPr sz="1000">
                <a:solidFill>
                  <a:srgbClr val="595959"/>
                </a:solidFill>
                <a:latin typeface="Calibri"/>
              </a:rPr>
              <a:t>02-09-2026</a:t>
            </a:r>
          </a:p>
        </p:txBody>
      </p:sp>
      <p:sp>
        <p:nvSpPr>
          <p:cNvPr id="4" name="TextBox 3"/>
          <p:cNvSpPr txBox="1"/>
          <p:nvPr/>
        </p:nvSpPr>
        <p:spPr>
          <a:xfrm>
            <a:off x="4038600" y="6356350"/>
            <a:ext cx="4114800" cy="365125"/>
          </a:xfrm>
          <a:prstGeom prst="rect">
            <a:avLst/>
          </a:prstGeom>
          <a:noFill/>
        </p:spPr>
        <p:txBody>
          <a:bodyPr wrap="none">
            <a:spAutoFit/>
          </a:bodyPr>
          <a:lstStyle/>
          <a:p>
            <a:pPr/>
            <a:r>
              <a:rPr sz="1000">
                <a:solidFill>
                  <a:srgbClr val="595959"/>
                </a:solidFill>
                <a:latin typeface="Calibri"/>
              </a:rPr>
              <a:t>SCOPE</a:t>
            </a:r>
          </a:p>
        </p:txBody>
      </p:sp>
      <p:sp>
        <p:nvSpPr>
          <p:cNvPr id="5" name="slidenum"/>
          <p:cNvSpPr txBox="1"/>
          <p:nvPr/>
        </p:nvSpPr>
        <p:spPr>
          <a:xfrm>
            <a:off x="8610600" y="6356350"/>
            <a:ext cx="2743200" cy="365125"/>
          </a:xfrm>
          <a:prstGeom prst="rect">
            <a:avLst/>
          </a:prstGeom>
          <a:noFill/>
        </p:spPr>
        <p:txBody>
          <a:bodyPr wrap="none">
            <a:spAutoFit/>
          </a:bodyPr>
          <a:lstStyle/>
          <a:p>
            <a:pPr/>
            <a:r>
              <a:rPr sz="1000">
                <a:solidFill>
                  <a:srgbClr val="595959"/>
                </a:solidFill>
                <a:latin typeface="Calibri"/>
              </a:rPr>
              <a:t>18</a:t>
            </a:r>
          </a:p>
        </p:txBody>
      </p:sp>
      <p:sp>
        <p:nvSpPr>
          <p:cNvPr id="6" name="TextBox 5"/>
          <p:cNvSpPr txBox="1"/>
          <p:nvPr/>
        </p:nvSpPr>
        <p:spPr>
          <a:xfrm>
            <a:off x="548640" y="1444752"/>
            <a:ext cx="11091672" cy="4800600"/>
          </a:xfrm>
          <a:prstGeom prst="rect">
            <a:avLst/>
          </a:prstGeom>
          <a:noFill/>
        </p:spPr>
        <p:txBody>
          <a:bodyPr wrap="square" lIns="0" rIns="0" tIns="0" bIns="0">
            <a:spAutoFit/>
          </a:bodyPr>
          <a:lstStyle/>
          <a:p>
            <a:pPr>
              <a:spcAft>
                <a:spcPts val="504"/>
              </a:spcAft>
            </a:pPr>
            <a:r>
              <a:rPr sz="1200">
                <a:solidFill>
                  <a:srgbClr val="1A1A1A"/>
                </a:solidFill>
                <a:latin typeface="Calibri"/>
              </a:rPr>
              <a:t>[8]  A. Fuerst and P. Sharma, "FaasCache: Keeping serverless computing alive with greedy-dual caching," in Proc. ACM ASPLOS, 2021, pp. 386-400.</a:t>
            </a:r>
          </a:p>
          <a:p>
            <a:pPr>
              <a:spcAft>
                <a:spcPts val="504"/>
              </a:spcAft>
            </a:pPr>
            <a:r>
              <a:rPr sz="1200">
                <a:solidFill>
                  <a:srgbClr val="1A1A1A"/>
                </a:solidFill>
                <a:latin typeface="Calibri"/>
              </a:rPr>
              <a:t>[9]  M. Shahrad et al., "Serverless in the wild: Characterizing and optimizing the serverless workload at a large cloud provider," in Proc. USENIX ATC, 2020, pp. 205-218.</a:t>
            </a:r>
          </a:p>
          <a:p>
            <a:pPr>
              <a:spcAft>
                <a:spcPts val="504"/>
              </a:spcAft>
            </a:pPr>
            <a:r>
              <a:rPr sz="1200">
                <a:solidFill>
                  <a:srgbClr val="1A1A1A"/>
                </a:solidFill>
                <a:latin typeface="Calibri"/>
              </a:rPr>
              <a:t>[10]  Z. Xu, H. Zhang, X. Geng, Q. Wu, and H. Ma, "Adaptive function launching acceleration in serverless computing platforms," in Proc. IEEE ICPADS, 2019, pp. 9-16.</a:t>
            </a:r>
          </a:p>
          <a:p>
            <a:pPr>
              <a:spcAft>
                <a:spcPts val="504"/>
              </a:spcAft>
            </a:pPr>
            <a:r>
              <a:rPr sz="1200">
                <a:solidFill>
                  <a:srgbClr val="1A1A1A"/>
                </a:solidFill>
                <a:latin typeface="Calibri"/>
              </a:rPr>
              <a:t>[11]  T. M. Cover and J. A. Thomas, Elements of Information Theory, 2nd ed. Hoboken, NJ: Wiley-Interscience, 2006.</a:t>
            </a:r>
          </a:p>
          <a:p>
            <a:pPr>
              <a:spcAft>
                <a:spcPts val="504"/>
              </a:spcAft>
            </a:pPr>
            <a:r>
              <a:rPr sz="1200">
                <a:solidFill>
                  <a:srgbClr val="1A1A1A"/>
                </a:solidFill>
                <a:latin typeface="Calibri"/>
              </a:rPr>
              <a:t>[12]  C. Guo, G. Pleiss, Y. Sun, and K. Q. Weinberger, "On calibration of modern neural networks," in Proc. ICML, 2017, pp. 1321-1330.</a:t>
            </a:r>
          </a:p>
          <a:p>
            <a:pPr>
              <a:spcAft>
                <a:spcPts val="504"/>
              </a:spcAft>
            </a:pPr>
            <a:r>
              <a:rPr sz="1200">
                <a:solidFill>
                  <a:srgbClr val="1A1A1A"/>
                </a:solidFill>
                <a:latin typeface="Calibri"/>
              </a:rPr>
              <a:t>[13]  J. Johnson, M. Douze, and H. Jegou, "Billion-scale similarity search with GPUs," IEEE Trans. Big Data, vol. 7, no. 3, pp. 535-547, 2021.</a:t>
            </a:r>
          </a:p>
          <a:p>
            <a:pPr>
              <a:spcAft>
                <a:spcPts val="504"/>
              </a:spcAft>
            </a:pPr>
            <a:r>
              <a:rPr sz="1200">
                <a:solidFill>
                  <a:srgbClr val="1A1A1A"/>
                </a:solidFill>
                <a:latin typeface="Calibri"/>
              </a:rPr>
              <a:t>[14]  Microsoft Azure, "AzurePublicDataset: Azure Functions Trace 2019," https://github.com/Azure/AzurePublicDataset (CC-BY licence), accessed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273</Words>
  <Application>Microsoft Office PowerPoint</Application>
  <PresentationFormat>Widescreen</PresentationFormat>
  <Paragraphs>78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&lt;&lt;Programme B.Tech/ M.Tech Course Code – Course Title&gt;&gt; &lt;&lt;Project Title&gt;&gt;</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Parthasarathy G</cp:lastModifiedBy>
  <cp:revision>5</cp:revision>
  <dcterms:created xsi:type="dcterms:W3CDTF">2026-07-14T06:00:41Z</dcterms:created>
  <dcterms:modified xsi:type="dcterms:W3CDTF">2026-08-22T10:32:54Z</dcterms:modified>
</cp:coreProperties>
</file>